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B059CF3F-75E0-E247-F83C-9CF91C407531}">
          <p14:sldIdLst>
            <p14:sldId id="256"/>
            <p14:sldId id="257"/>
            <p14:sldId id="258"/>
          </p14:sldIdLst>
        </p14:section>
        <p14:section name="Data management" id="{D566625E-0EA0-D441-6E42-CAF2905A9839}">
          <p14:sldIdLst>
            <p14:sldId id="259"/>
            <p14:sldId id="260"/>
            <p14:sldId id="261"/>
            <p14:sldId id="262"/>
            <p14:sldId id="263"/>
            <p14:sldId id="264"/>
            <p14:sldId id="265"/>
            <p14:sldId id="266"/>
            <p14:sldId id="267"/>
          </p14:sldIdLst>
        </p14:section>
        <p14:section name="Coding in Colab" id="{72F994B8-5610-74BA-7DD7-F6FBB7B7DA76}">
          <p14:sldIdLst>
            <p14:sldId id="268"/>
            <p14:sldId id="269"/>
            <p14:sldId id="270"/>
          </p14:sldIdLst>
        </p14:section>
        <p14:section name="Hands-on" id="{C1A04A06-C04A-1B4E-1D7D-B77DB1B5AAB9}">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76"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8216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10-point checklist to guide researchers toward greater reproducibility in their research. Researchers should give careful thought before, during, and after analysis to ensure reproducibility of their work.
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2285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17320"/>
            <a:ext cx="6309360" cy="2103120"/>
          </a:xfrm>
          <a:prstGeom prst="rect">
            <a:avLst/>
          </a:prstGeom>
          <a:noFill/>
          <a:ln/>
        </p:spPr>
        <p:txBody>
          <a:bodyPr wrap="square" rtlCol="0"/>
          <a:lstStyle>
            <a:lvl1pPr marL="0" indent="0" algn="l">
              <a:buNone/>
              <a:defRPr lang="en-US" sz="4000" b="1" dirty="0">
                <a:solidFill>
                  <a:srgbClr val="FFFFFF"/>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3794760"/>
            <a:ext cx="6309360" cy="2194560"/>
          </a:xfrm>
          <a:prstGeom prst="rect">
            <a:avLst/>
          </a:prstGeom>
          <a:noFill/>
          <a:ln/>
        </p:spPr>
        <p:txBody>
          <a:bodyPr wrap="square" rtlCol="0"/>
          <a:lstStyle>
            <a:lvl1pPr marL="0" indent="0">
              <a:buNone/>
              <a:defRPr lang="en-US" sz="1600" dirty="0">
                <a:solidFill>
                  <a:srgbClr val="FFFFFF"/>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2285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194560"/>
            <a:ext cx="7498080" cy="1371600"/>
          </a:xfrm>
          <a:prstGeom prst="rect">
            <a:avLst/>
          </a:prstGeom>
          <a:noFill/>
          <a:ln/>
        </p:spPr>
        <p:txBody>
          <a:bodyPr wrap="square" rtlCol="0"/>
          <a:lstStyle>
            <a:lvl1pPr marL="0" indent="0" algn="l">
              <a:buNone/>
              <a:defRPr lang="en-US" sz="4000" b="1" dirty="0">
                <a:solidFill>
                  <a:srgbClr val="FFFFFF"/>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3749040"/>
            <a:ext cx="7498080" cy="1280160"/>
          </a:xfrm>
          <a:prstGeom prst="rect">
            <a:avLst/>
          </a:prstGeom>
          <a:noFill/>
          <a:ln/>
        </p:spPr>
        <p:txBody>
          <a:bodyPr wrap="square" rtlCol="0"/>
          <a:lstStyle>
            <a:lvl1pPr marL="0" indent="0">
              <a:buNone/>
              <a:defRPr lang="en-US" sz="1800" dirty="0">
                <a:solidFill>
                  <a:srgbClr val="FFBF00"/>
                </a:solidFill>
              </a:defRPr>
            </a:lvl1pPr>
          </a:lstStyle>
          <a:p>
            <a:pPr marL="0" indent="0">
              <a:buNone/>
            </a:pPr>
            <a:endParaRPr lang="en-US" sz="1800" dirty="0"/>
          </a:p>
        </p:txBody>
      </p:sp>
      <p:sp>
        <p:nvSpPr>
          <p:cNvPr id="4" name="Text 0"/>
          <p:cNvSpPr/>
          <p:nvPr/>
        </p:nvSpPr>
        <p:spPr>
          <a:xfrm>
            <a:off x="640080" y="6263640"/>
            <a:ext cx="5486400" cy="274320"/>
          </a:xfrm>
          <a:prstGeom prst="rect">
            <a:avLst/>
          </a:prstGeom>
          <a:noFill/>
          <a:ln/>
        </p:spPr>
        <p:txBody>
          <a:bodyPr wrap="square" lIns="0" tIns="0" rIns="0" bIns="0" rtlCol="0" anchor="ctr"/>
          <a:lstStyle/>
          <a:p>
            <a:pPr marL="0" indent="0">
              <a:buNone/>
            </a:pPr>
            <a:r>
              <a:rPr lang="en-US" sz="1000" dirty="0">
                <a:solidFill>
                  <a:srgbClr val="AFC0D3"/>
                </a:solidFill>
              </a:rPr>
              <a:t>MPM 200 · Introduction to R</a:t>
            </a:r>
            <a:endParaRPr lang="en-US" sz="1000" dirty="0"/>
          </a:p>
        </p:txBody>
      </p:sp>
      <p:sp>
        <p:nvSpPr>
          <p:cNvPr id="25" name="Slide Number Placeholder 0"/>
          <p:cNvSpPr>
            <a:spLocks noGrp="1"/>
          </p:cNvSpPr>
          <p:nvPr>
            <p:ph type="sldNum" sz="quarter" idx="4294967295"/>
          </p:nvPr>
        </p:nvSpPr>
        <p:spPr>
          <a:xfrm>
            <a:off x="1115568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FC0D3"/>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rtlCol="0"/>
          <a:lstStyle>
            <a:lvl1pPr marL="0" indent="0" algn="l">
              <a:buNone/>
              <a:defRPr lang="en-US" sz="3400" b="1" dirty="0">
                <a:solidFill>
                  <a:srgbClr val="022851"/>
                </a:solidFill>
              </a:defRPr>
            </a:lvl1pPr>
          </a:lstStyle>
          <a:p>
            <a:pPr marL="0" indent="0" algn="l">
              <a:buNone/>
            </a:pPr>
            <a:endParaRPr lang="en-US" sz="3400" dirty="0"/>
          </a:p>
        </p:txBody>
      </p:sp>
      <p:sp>
        <p:nvSpPr>
          <p:cNvPr id="3" name="Text 0"/>
          <p:cNvSpPr/>
          <p:nvPr/>
        </p:nvSpPr>
        <p:spPr>
          <a:xfrm>
            <a:off x="640080" y="6355080"/>
            <a:ext cx="5486400" cy="274320"/>
          </a:xfrm>
          <a:prstGeom prst="rect">
            <a:avLst/>
          </a:prstGeom>
          <a:noFill/>
          <a:ln/>
        </p:spPr>
        <p:txBody>
          <a:bodyPr wrap="square" lIns="0" tIns="0" rIns="0" bIns="0" rtlCol="0" anchor="ctr"/>
          <a:lstStyle/>
          <a:p>
            <a:pPr marL="0" indent="0">
              <a:buNone/>
            </a:pPr>
            <a:r>
              <a:rPr lang="en-US" sz="1000" dirty="0">
                <a:solidFill>
                  <a:srgbClr val="5B6770"/>
                </a:solidFill>
              </a:rPr>
              <a:t>MPM 200 · Introduction to R</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SPLI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6035040" cy="822960"/>
          </a:xfrm>
          <a:prstGeom prst="rect">
            <a:avLst/>
          </a:prstGeom>
          <a:noFill/>
          <a:ln/>
        </p:spPr>
        <p:txBody>
          <a:bodyPr wrap="square" rtlCol="0"/>
          <a:lstStyle>
            <a:lvl1pPr marL="0" indent="0" algn="l">
              <a:buNone/>
              <a:defRPr lang="en-US" sz="3400" b="1" dirty="0">
                <a:solidFill>
                  <a:srgbClr val="022851"/>
                </a:solidFill>
              </a:defRPr>
            </a:lvl1pPr>
          </a:lstStyle>
          <a:p>
            <a:pPr marL="0" indent="0" algn="l">
              <a:buNone/>
            </a:pPr>
            <a:endParaRPr lang="en-US" sz="3400" dirty="0"/>
          </a:p>
        </p:txBody>
      </p:sp>
      <p:sp>
        <p:nvSpPr>
          <p:cNvPr id="3" name="Text 0"/>
          <p:cNvSpPr/>
          <p:nvPr/>
        </p:nvSpPr>
        <p:spPr>
          <a:xfrm>
            <a:off x="640080" y="6355080"/>
            <a:ext cx="5486400" cy="274320"/>
          </a:xfrm>
          <a:prstGeom prst="rect">
            <a:avLst/>
          </a:prstGeom>
          <a:noFill/>
          <a:ln/>
        </p:spPr>
        <p:txBody>
          <a:bodyPr wrap="square" lIns="0" tIns="0" rIns="0" bIns="0" rtlCol="0" anchor="ctr"/>
          <a:lstStyle/>
          <a:p>
            <a:pPr marL="0" indent="0">
              <a:buNone/>
            </a:pPr>
            <a:r>
              <a:rPr lang="en-US" sz="1000" dirty="0">
                <a:solidFill>
                  <a:srgbClr val="5B6770"/>
                </a:solidFill>
              </a:rPr>
              <a:t>MPM 200 · Introduction to R</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FC0D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960120"/>
            <a:ext cx="5486400" cy="365760"/>
          </a:xfrm>
          <a:prstGeom prst="rect">
            <a:avLst/>
          </a:prstGeom>
          <a:noFill/>
          <a:ln/>
        </p:spPr>
        <p:txBody>
          <a:bodyPr wrap="square" lIns="0" tIns="0" rIns="0" bIns="0" rtlCol="0" anchor="t"/>
          <a:lstStyle/>
          <a:p>
            <a:pPr marL="0" indent="0">
              <a:buNone/>
            </a:pPr>
            <a:r>
              <a:rPr lang="en-US" sz="1400" b="1" kern="0" spc="300" dirty="0">
                <a:solidFill>
                  <a:srgbClr val="FFBF00"/>
                </a:solidFill>
              </a:rPr>
              <a:t>MPM 200 · </a:t>
            </a:r>
            <a:r>
              <a:rPr lang="en-US" sz="1400" b="1" kern="0" spc="300">
                <a:solidFill>
                  <a:srgbClr val="FFBF00"/>
                </a:solidFill>
              </a:rPr>
              <a:t>WEEK 3</a:t>
            </a:r>
            <a:endParaRPr lang="en-US" sz="1400" dirty="0"/>
          </a:p>
        </p:txBody>
      </p:sp>
      <p:sp>
        <p:nvSpPr>
          <p:cNvPr id="3" name="Text 0"/>
          <p:cNvSpPr>
            <a:spLocks noGrp="1"/>
          </p:cNvSpPr>
          <p:nvPr>
            <p:ph type="title" idx="100" hasCustomPrompt="1"/>
          </p:nvPr>
        </p:nvSpPr>
        <p:spPr>
          <a:xfrm>
            <a:off x="640080" y="1417320"/>
            <a:ext cx="6309360" cy="2103120"/>
          </a:xfrm>
          <a:prstGeom prst="rect">
            <a:avLst/>
          </a:prstGeom>
          <a:noFill/>
          <a:ln/>
        </p:spPr>
        <p:txBody>
          <a:bodyPr wrap="square" lIns="0" tIns="0" rIns="0" bIns="0" rtlCol="0" anchor="b"/>
          <a:lstStyle/>
          <a:p>
            <a:pPr marL="0" indent="0" algn="l">
              <a:buNone/>
            </a:pPr>
            <a:r>
              <a:rPr lang="en-US" sz="4000" b="1" dirty="0">
                <a:solidFill>
                  <a:srgbClr val="FFFFFF"/>
                </a:solidFill>
              </a:rPr>
              <a:t>Introduction to R Programming and Collaborative Science</a:t>
            </a:r>
            <a:endParaRPr lang="en-US" sz="4000" dirty="0"/>
          </a:p>
        </p:txBody>
      </p:sp>
      <p:sp>
        <p:nvSpPr>
          <p:cNvPr id="4" name="Text 0"/>
          <p:cNvSpPr>
            <a:spLocks noGrp="1"/>
          </p:cNvSpPr>
          <p:nvPr>
            <p:ph type="body" idx="101" hasCustomPrompt="1"/>
          </p:nvPr>
        </p:nvSpPr>
        <p:spPr>
          <a:xfrm>
            <a:off x="640080" y="3794760"/>
            <a:ext cx="6309360" cy="2194560"/>
          </a:xfrm>
          <a:prstGeom prst="rect">
            <a:avLst/>
          </a:prstGeom>
          <a:noFill/>
          <a:ln/>
        </p:spPr>
        <p:txBody>
          <a:bodyPr wrap="square" lIns="0" tIns="0" rIns="0" bIns="0" rtlCol="0" anchor="t"/>
          <a:lstStyle/>
          <a:p>
            <a:pPr marL="0" indent="0">
              <a:buNone/>
            </a:pPr>
            <a:r>
              <a:rPr lang="en-US" sz="1800" b="1" dirty="0">
                <a:solidFill>
                  <a:srgbClr val="FFFFFF"/>
                </a:solidFill>
              </a:rPr>
              <a:t>Pranav Pandit, BVSc &amp; AH, MPVM, PhD</a:t>
            </a:r>
            <a:endParaRPr lang="en-US" sz="1600" dirty="0"/>
          </a:p>
          <a:p>
            <a:pPr marL="0" indent="0">
              <a:buNone/>
            </a:pPr>
            <a:r>
              <a:rPr lang="en-US" sz="1400" dirty="0">
                <a:solidFill>
                  <a:srgbClr val="C9D4E0"/>
                </a:solidFill>
              </a:rPr>
              <a:t>Department of Population Health and Reproduction</a:t>
            </a:r>
            <a:endParaRPr lang="en-US" sz="1600" dirty="0"/>
          </a:p>
          <a:p>
            <a:r>
              <a:rPr lang="en-US" sz="1400" dirty="0">
                <a:solidFill>
                  <a:srgbClr val="C9D4E0"/>
                </a:solidFill>
              </a:rPr>
              <a:t>UC Davis Weill School of Veterinary Medicine </a:t>
            </a:r>
            <a:endParaRPr lang="en-US" sz="1600" dirty="0"/>
          </a:p>
        </p:txBody>
      </p:sp>
      <p:sp>
        <p:nvSpPr>
          <p:cNvPr id="5" name="photo frame"/>
          <p:cNvSpPr/>
          <p:nvPr/>
        </p:nvSpPr>
        <p:spPr>
          <a:xfrm>
            <a:off x="7726680" y="960120"/>
            <a:ext cx="3931920" cy="2761488"/>
          </a:xfrm>
          <a:prstGeom prst="rect">
            <a:avLst/>
          </a:prstGeom>
          <a:solidFill>
            <a:srgbClr val="FFBF00"/>
          </a:solidFill>
          <a:ln w="12700">
            <a:solidFill>
              <a:srgbClr val="FFBF00"/>
            </a:solidFill>
            <a:prstDash val="solid"/>
          </a:ln>
        </p:spPr>
        <p:txBody>
          <a:bodyPr/>
          <a:lstStyle/>
          <a:p>
            <a:endParaRPr lang="en-US"/>
          </a:p>
        </p:txBody>
      </p:sp>
      <p:pic>
        <p:nvPicPr>
          <p:cNvPr id="6" name="photo" descr="image2.jpeg"/>
          <p:cNvPicPr>
            <a:picLocks noChangeAspect="1"/>
          </p:cNvPicPr>
          <p:nvPr/>
        </p:nvPicPr>
        <p:blipFill>
          <a:blip r:embed="rId3"/>
          <a:srcRect/>
          <a:stretch/>
        </p:blipFill>
        <p:spPr>
          <a:xfrm>
            <a:off x="7589520" y="822960"/>
            <a:ext cx="3931920" cy="2761488"/>
          </a:xfrm>
          <a:prstGeom prst="rect">
            <a:avLst/>
          </a:prstGeom>
        </p:spPr>
      </p:pic>
      <p:sp>
        <p:nvSpPr>
          <p:cNvPr id="7" name="photo frame"/>
          <p:cNvSpPr/>
          <p:nvPr/>
        </p:nvSpPr>
        <p:spPr>
          <a:xfrm>
            <a:off x="7726680" y="4023360"/>
            <a:ext cx="2926080" cy="2057400"/>
          </a:xfrm>
          <a:prstGeom prst="rect">
            <a:avLst/>
          </a:prstGeom>
          <a:solidFill>
            <a:srgbClr val="FFBF00"/>
          </a:solidFill>
          <a:ln w="12700">
            <a:solidFill>
              <a:srgbClr val="FFBF00"/>
            </a:solidFill>
            <a:prstDash val="solid"/>
          </a:ln>
        </p:spPr>
        <p:txBody>
          <a:bodyPr/>
          <a:lstStyle/>
          <a:p>
            <a:endParaRPr lang="en-US"/>
          </a:p>
        </p:txBody>
      </p:sp>
      <p:pic>
        <p:nvPicPr>
          <p:cNvPr id="8" name="photo" descr="image1.jpg"/>
          <p:cNvPicPr>
            <a:picLocks noChangeAspect="1"/>
          </p:cNvPicPr>
          <p:nvPr/>
        </p:nvPicPr>
        <p:blipFill>
          <a:blip r:embed="rId4"/>
          <a:srcRect/>
          <a:stretch/>
        </p:blipFill>
        <p:spPr>
          <a:xfrm>
            <a:off x="7589520" y="3886200"/>
            <a:ext cx="2926080" cy="2057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Learning objectives</a:t>
            </a:r>
            <a:endParaRPr lang="en-US" sz="3400" dirty="0"/>
          </a:p>
        </p:txBody>
      </p:sp>
      <p:sp>
        <p:nvSpPr>
          <p:cNvPr id="3" name="card"/>
          <p:cNvSpPr/>
          <p:nvPr/>
        </p:nvSpPr>
        <p:spPr>
          <a:xfrm>
            <a:off x="640080" y="1600200"/>
            <a:ext cx="3429000" cy="3840480"/>
          </a:xfrm>
          <a:prstGeom prst="roundRect">
            <a:avLst>
              <a:gd name="adj" fmla="val 3200"/>
            </a:avLst>
          </a:prstGeom>
          <a:solidFill>
            <a:srgbClr val="E6EAEE"/>
          </a:solidFill>
          <a:ln w="12700">
            <a:solidFill>
              <a:srgbClr val="E6EAEE"/>
            </a:solidFill>
            <a:prstDash val="solid"/>
          </a:ln>
        </p:spPr>
        <p:txBody>
          <a:bodyPr/>
          <a:lstStyle/>
          <a:p>
            <a:endParaRPr lang="en-US"/>
          </a:p>
        </p:txBody>
      </p:sp>
      <p:sp>
        <p:nvSpPr>
          <p:cNvPr id="4" name="icon circle"/>
          <p:cNvSpPr/>
          <p:nvPr/>
        </p:nvSpPr>
        <p:spPr>
          <a:xfrm>
            <a:off x="1005840" y="1965960"/>
            <a:ext cx="868680" cy="868680"/>
          </a:xfrm>
          <a:prstGeom prst="ellipse">
            <a:avLst/>
          </a:prstGeom>
          <a:solidFill>
            <a:srgbClr val="FFBF00"/>
          </a:solidFill>
          <a:ln w="12700">
            <a:solidFill>
              <a:srgbClr val="FFBF00"/>
            </a:solidFill>
            <a:prstDash val="solid"/>
          </a:ln>
        </p:spPr>
        <p:txBody>
          <a:bodyPr/>
          <a:lstStyle/>
          <a:p>
            <a:endParaRPr lang="en-US"/>
          </a:p>
        </p:txBody>
      </p:sp>
      <p:pic>
        <p:nvPicPr>
          <p:cNvPr id="5" name="icon" descr="preencoded.png"/>
          <p:cNvPicPr>
            <a:picLocks noChangeAspect="1"/>
          </p:cNvPicPr>
          <p:nvPr/>
        </p:nvPicPr>
        <p:blipFill>
          <a:blip r:embed="rId3"/>
          <a:stretch>
            <a:fillRect/>
          </a:stretch>
        </p:blipFill>
        <p:spPr>
          <a:xfrm>
            <a:off x="1223010" y="2183130"/>
            <a:ext cx="434340" cy="434340"/>
          </a:xfrm>
          <a:prstGeom prst="rect">
            <a:avLst/>
          </a:prstGeom>
        </p:spPr>
      </p:pic>
      <p:sp>
        <p:nvSpPr>
          <p:cNvPr id="6" name="Text 3"/>
          <p:cNvSpPr txBox="1"/>
          <p:nvPr/>
        </p:nvSpPr>
        <p:spPr>
          <a:xfrm>
            <a:off x="1005840" y="3063240"/>
            <a:ext cx="2743200" cy="914400"/>
          </a:xfrm>
          <a:prstGeom prst="rect">
            <a:avLst/>
          </a:prstGeom>
          <a:noFill/>
          <a:ln/>
        </p:spPr>
        <p:txBody>
          <a:bodyPr wrap="square" lIns="0" tIns="0" rIns="0" bIns="0" rtlCol="0" anchor="t"/>
          <a:lstStyle/>
          <a:p>
            <a:pPr marL="0" indent="0">
              <a:buNone/>
            </a:pPr>
            <a:r>
              <a:rPr lang="en-US" sz="2100" b="1" dirty="0">
                <a:solidFill>
                  <a:srgbClr val="022851"/>
                </a:solidFill>
              </a:rPr>
              <a:t>Introduction to R programming</a:t>
            </a:r>
            <a:endParaRPr lang="en-US" sz="2100" dirty="0"/>
          </a:p>
        </p:txBody>
      </p:sp>
      <p:sp>
        <p:nvSpPr>
          <p:cNvPr id="7" name="Text 4"/>
          <p:cNvSpPr txBox="1"/>
          <p:nvPr/>
        </p:nvSpPr>
        <p:spPr>
          <a:xfrm>
            <a:off x="1005840" y="4206240"/>
            <a:ext cx="2743200" cy="1097280"/>
          </a:xfrm>
          <a:prstGeom prst="rect">
            <a:avLst/>
          </a:prstGeom>
          <a:noFill/>
          <a:ln/>
        </p:spPr>
        <p:txBody>
          <a:bodyPr wrap="square" lIns="0" tIns="0" rIns="0" bIns="0" rtlCol="0" anchor="t"/>
          <a:lstStyle/>
          <a:p>
            <a:pPr marL="0" indent="0">
              <a:buNone/>
            </a:pPr>
            <a:r>
              <a:rPr lang="en-US" sz="1600" dirty="0">
                <a:solidFill>
                  <a:schemeClr val="tx1"/>
                </a:solidFill>
              </a:rPr>
              <a:t>Basics of R syntax and data types</a:t>
            </a:r>
            <a:endParaRPr lang="en-US" sz="1600" dirty="0"/>
          </a:p>
        </p:txBody>
      </p:sp>
      <p:sp>
        <p:nvSpPr>
          <p:cNvPr id="8" name="card"/>
          <p:cNvSpPr/>
          <p:nvPr/>
        </p:nvSpPr>
        <p:spPr>
          <a:xfrm>
            <a:off x="4343400" y="1600200"/>
            <a:ext cx="3429000" cy="3840480"/>
          </a:xfrm>
          <a:prstGeom prst="roundRect">
            <a:avLst>
              <a:gd name="adj" fmla="val 3200"/>
            </a:avLst>
          </a:prstGeom>
          <a:solidFill>
            <a:srgbClr val="E6EAEE"/>
          </a:solidFill>
          <a:ln w="12700">
            <a:solidFill>
              <a:srgbClr val="E6EAEE"/>
            </a:solidFill>
            <a:prstDash val="solid"/>
          </a:ln>
        </p:spPr>
        <p:txBody>
          <a:bodyPr/>
          <a:lstStyle/>
          <a:p>
            <a:endParaRPr lang="en-US"/>
          </a:p>
        </p:txBody>
      </p:sp>
      <p:sp>
        <p:nvSpPr>
          <p:cNvPr id="9" name="icon circle"/>
          <p:cNvSpPr/>
          <p:nvPr/>
        </p:nvSpPr>
        <p:spPr>
          <a:xfrm>
            <a:off x="4709160" y="1965960"/>
            <a:ext cx="868680" cy="868680"/>
          </a:xfrm>
          <a:prstGeom prst="ellipse">
            <a:avLst/>
          </a:prstGeom>
          <a:solidFill>
            <a:srgbClr val="FFBF00"/>
          </a:solidFill>
          <a:ln w="12700">
            <a:solidFill>
              <a:srgbClr val="FFBF00"/>
            </a:solidFill>
            <a:prstDash val="solid"/>
          </a:ln>
        </p:spPr>
        <p:txBody>
          <a:bodyPr/>
          <a:lstStyle/>
          <a:p>
            <a:endParaRPr lang="en-US"/>
          </a:p>
        </p:txBody>
      </p:sp>
      <p:pic>
        <p:nvPicPr>
          <p:cNvPr id="10" name="icon" descr="preencoded.png"/>
          <p:cNvPicPr>
            <a:picLocks noChangeAspect="1"/>
          </p:cNvPicPr>
          <p:nvPr/>
        </p:nvPicPr>
        <p:blipFill>
          <a:blip r:embed="rId4"/>
          <a:stretch>
            <a:fillRect/>
          </a:stretch>
        </p:blipFill>
        <p:spPr>
          <a:xfrm>
            <a:off x="4926330" y="2183130"/>
            <a:ext cx="434340" cy="434340"/>
          </a:xfrm>
          <a:prstGeom prst="rect">
            <a:avLst/>
          </a:prstGeom>
        </p:spPr>
      </p:pic>
      <p:sp>
        <p:nvSpPr>
          <p:cNvPr id="11" name="Text 7"/>
          <p:cNvSpPr txBox="1"/>
          <p:nvPr/>
        </p:nvSpPr>
        <p:spPr>
          <a:xfrm>
            <a:off x="4709160" y="3063240"/>
            <a:ext cx="2743200" cy="914400"/>
          </a:xfrm>
          <a:prstGeom prst="rect">
            <a:avLst/>
          </a:prstGeom>
          <a:noFill/>
          <a:ln/>
        </p:spPr>
        <p:txBody>
          <a:bodyPr wrap="square" lIns="0" tIns="0" rIns="0" bIns="0" rtlCol="0" anchor="t"/>
          <a:lstStyle/>
          <a:p>
            <a:pPr marL="0" indent="0">
              <a:buNone/>
            </a:pPr>
            <a:r>
              <a:rPr lang="en-US" sz="2100" b="1" dirty="0">
                <a:solidFill>
                  <a:srgbClr val="022851"/>
                </a:solidFill>
              </a:rPr>
              <a:t>Project management</a:t>
            </a:r>
            <a:endParaRPr lang="en-US" sz="2100" dirty="0"/>
          </a:p>
        </p:txBody>
      </p:sp>
      <p:sp>
        <p:nvSpPr>
          <p:cNvPr id="12" name="Text 8"/>
          <p:cNvSpPr txBox="1"/>
          <p:nvPr/>
        </p:nvSpPr>
        <p:spPr>
          <a:xfrm>
            <a:off x="4709160" y="4206240"/>
            <a:ext cx="2743200" cy="1097280"/>
          </a:xfrm>
          <a:prstGeom prst="rect">
            <a:avLst/>
          </a:prstGeom>
          <a:noFill/>
          <a:ln/>
        </p:spPr>
        <p:txBody>
          <a:bodyPr wrap="square" lIns="0" tIns="0" rIns="0" bIns="0" rtlCol="0" anchor="t"/>
          <a:lstStyle/>
          <a:p>
            <a:pPr marL="0" indent="0">
              <a:buNone/>
            </a:pPr>
            <a:r>
              <a:rPr lang="en-US" sz="1600" dirty="0">
                <a:solidFill>
                  <a:schemeClr val="tx1"/>
                </a:solidFill>
              </a:rPr>
              <a:t>Setting up Google Colab and your coding environment</a:t>
            </a:r>
            <a:endParaRPr lang="en-US" sz="1600" dirty="0"/>
          </a:p>
        </p:txBody>
      </p:sp>
      <p:sp>
        <p:nvSpPr>
          <p:cNvPr id="13" name="card"/>
          <p:cNvSpPr/>
          <p:nvPr/>
        </p:nvSpPr>
        <p:spPr>
          <a:xfrm>
            <a:off x="8046720" y="1600200"/>
            <a:ext cx="3429000" cy="3840480"/>
          </a:xfrm>
          <a:prstGeom prst="roundRect">
            <a:avLst>
              <a:gd name="adj" fmla="val 3200"/>
            </a:avLst>
          </a:prstGeom>
          <a:solidFill>
            <a:srgbClr val="E6EAEE"/>
          </a:solidFill>
          <a:ln w="12700">
            <a:solidFill>
              <a:srgbClr val="E6EAEE"/>
            </a:solidFill>
            <a:prstDash val="solid"/>
          </a:ln>
        </p:spPr>
        <p:txBody>
          <a:bodyPr/>
          <a:lstStyle/>
          <a:p>
            <a:endParaRPr lang="en-US"/>
          </a:p>
        </p:txBody>
      </p:sp>
      <p:sp>
        <p:nvSpPr>
          <p:cNvPr id="14" name="icon circle"/>
          <p:cNvSpPr/>
          <p:nvPr/>
        </p:nvSpPr>
        <p:spPr>
          <a:xfrm>
            <a:off x="8412480" y="1965960"/>
            <a:ext cx="868680" cy="868680"/>
          </a:xfrm>
          <a:prstGeom prst="ellipse">
            <a:avLst/>
          </a:prstGeom>
          <a:solidFill>
            <a:srgbClr val="FFBF00"/>
          </a:solidFill>
          <a:ln w="12700">
            <a:solidFill>
              <a:srgbClr val="FFBF00"/>
            </a:solidFill>
            <a:prstDash val="solid"/>
          </a:ln>
        </p:spPr>
        <p:txBody>
          <a:bodyPr/>
          <a:lstStyle/>
          <a:p>
            <a:endParaRPr lang="en-US"/>
          </a:p>
        </p:txBody>
      </p:sp>
      <p:pic>
        <p:nvPicPr>
          <p:cNvPr id="15" name="icon" descr="preencoded.png"/>
          <p:cNvPicPr>
            <a:picLocks noChangeAspect="1"/>
          </p:cNvPicPr>
          <p:nvPr/>
        </p:nvPicPr>
        <p:blipFill>
          <a:blip r:embed="rId5"/>
          <a:stretch>
            <a:fillRect/>
          </a:stretch>
        </p:blipFill>
        <p:spPr>
          <a:xfrm>
            <a:off x="8629650" y="2183130"/>
            <a:ext cx="434340" cy="434340"/>
          </a:xfrm>
          <a:prstGeom prst="rect">
            <a:avLst/>
          </a:prstGeom>
        </p:spPr>
      </p:pic>
      <p:sp>
        <p:nvSpPr>
          <p:cNvPr id="16" name="Text 11"/>
          <p:cNvSpPr txBox="1"/>
          <p:nvPr/>
        </p:nvSpPr>
        <p:spPr>
          <a:xfrm>
            <a:off x="8412480" y="3063240"/>
            <a:ext cx="2743200" cy="914400"/>
          </a:xfrm>
          <a:prstGeom prst="rect">
            <a:avLst/>
          </a:prstGeom>
          <a:noFill/>
          <a:ln/>
        </p:spPr>
        <p:txBody>
          <a:bodyPr wrap="square" lIns="0" tIns="0" rIns="0" bIns="0" rtlCol="0" anchor="t"/>
          <a:lstStyle/>
          <a:p>
            <a:pPr marL="0" indent="0">
              <a:buNone/>
            </a:pPr>
            <a:r>
              <a:rPr lang="en-US" sz="2100" b="1" dirty="0">
                <a:solidFill>
                  <a:srgbClr val="022851"/>
                </a:solidFill>
              </a:rPr>
              <a:t>Collaborative and reproducible science</a:t>
            </a:r>
            <a:endParaRPr lang="en-US" sz="2100" dirty="0"/>
          </a:p>
        </p:txBody>
      </p:sp>
      <p:sp>
        <p:nvSpPr>
          <p:cNvPr id="17" name="Text 12"/>
          <p:cNvSpPr txBox="1"/>
          <p:nvPr/>
        </p:nvSpPr>
        <p:spPr>
          <a:xfrm>
            <a:off x="8412480" y="4206240"/>
            <a:ext cx="2743200" cy="1097280"/>
          </a:xfrm>
          <a:prstGeom prst="rect">
            <a:avLst/>
          </a:prstGeom>
          <a:noFill/>
          <a:ln/>
        </p:spPr>
        <p:txBody>
          <a:bodyPr wrap="square" lIns="0" tIns="0" rIns="0" bIns="0" rtlCol="0" anchor="t"/>
          <a:lstStyle/>
          <a:p>
            <a:pPr marL="0" indent="0">
              <a:buNone/>
            </a:pPr>
            <a:r>
              <a:rPr lang="en-US" sz="1600" dirty="0">
                <a:solidFill>
                  <a:schemeClr val="tx1"/>
                </a:solidFill>
              </a:rPr>
              <a:t>Best practices for collaborative research and reproducibility</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Today's game plan</a:t>
            </a:r>
            <a:endParaRPr lang="en-US" sz="3400" dirty="0"/>
          </a:p>
        </p:txBody>
      </p:sp>
      <p:sp>
        <p:nvSpPr>
          <p:cNvPr id="3" name="step circle"/>
          <p:cNvSpPr/>
          <p:nvPr/>
        </p:nvSpPr>
        <p:spPr>
          <a:xfrm>
            <a:off x="640080" y="1737360"/>
            <a:ext cx="868680" cy="868680"/>
          </a:xfrm>
          <a:prstGeom prst="ellipse">
            <a:avLst/>
          </a:prstGeom>
          <a:solidFill>
            <a:srgbClr val="022851"/>
          </a:solidFill>
          <a:ln w="12700">
            <a:solidFill>
              <a:srgbClr val="022851"/>
            </a:solidFill>
            <a:prstDash val="solid"/>
          </a:ln>
        </p:spPr>
        <p:txBody>
          <a:bodyPr/>
          <a:lstStyle/>
          <a:p>
            <a:endParaRPr lang="en-US"/>
          </a:p>
        </p:txBody>
      </p:sp>
      <p:sp>
        <p:nvSpPr>
          <p:cNvPr id="4" name="Text 2"/>
          <p:cNvSpPr txBox="1"/>
          <p:nvPr/>
        </p:nvSpPr>
        <p:spPr>
          <a:xfrm>
            <a:off x="640080" y="1737360"/>
            <a:ext cx="868680" cy="868680"/>
          </a:xfrm>
          <a:prstGeom prst="rect">
            <a:avLst/>
          </a:prstGeom>
          <a:noFill/>
          <a:ln/>
        </p:spPr>
        <p:txBody>
          <a:bodyPr wrap="square" lIns="0" tIns="0" rIns="0" bIns="0" rtlCol="0" anchor="ctr"/>
          <a:lstStyle/>
          <a:p>
            <a:pPr marL="0" indent="0" algn="ctr">
              <a:buNone/>
            </a:pPr>
            <a:r>
              <a:rPr lang="en-US" sz="3000" b="1" dirty="0">
                <a:solidFill>
                  <a:srgbClr val="FFFFFF"/>
                </a:solidFill>
              </a:rPr>
              <a:t>1</a:t>
            </a:r>
            <a:endParaRPr lang="en-US" sz="3000" dirty="0"/>
          </a:p>
        </p:txBody>
      </p:sp>
      <p:sp>
        <p:nvSpPr>
          <p:cNvPr id="5" name="arrow"/>
          <p:cNvSpPr/>
          <p:nvPr/>
        </p:nvSpPr>
        <p:spPr>
          <a:xfrm>
            <a:off x="1691640" y="2171700"/>
            <a:ext cx="2468880" cy="0"/>
          </a:xfrm>
          <a:prstGeom prst="line">
            <a:avLst/>
          </a:prstGeom>
          <a:noFill/>
          <a:ln w="25400">
            <a:solidFill>
              <a:srgbClr val="B8C3CF"/>
            </a:solidFill>
            <a:prstDash val="dash"/>
            <a:tailEnd type="triangle"/>
          </a:ln>
        </p:spPr>
        <p:txBody>
          <a:bodyPr/>
          <a:lstStyle/>
          <a:p>
            <a:endParaRPr lang="en-US"/>
          </a:p>
        </p:txBody>
      </p:sp>
      <p:sp>
        <p:nvSpPr>
          <p:cNvPr id="6" name="Text 4"/>
          <p:cNvSpPr txBox="1"/>
          <p:nvPr/>
        </p:nvSpPr>
        <p:spPr>
          <a:xfrm>
            <a:off x="640080" y="2880360"/>
            <a:ext cx="3291840" cy="548640"/>
          </a:xfrm>
          <a:prstGeom prst="rect">
            <a:avLst/>
          </a:prstGeom>
          <a:noFill/>
          <a:ln/>
        </p:spPr>
        <p:txBody>
          <a:bodyPr wrap="square" lIns="0" tIns="0" rIns="0" bIns="0" rtlCol="0" anchor="t"/>
          <a:lstStyle/>
          <a:p>
            <a:pPr marL="0" indent="0">
              <a:buNone/>
            </a:pPr>
            <a:r>
              <a:rPr lang="en-US" sz="2200" b="1" dirty="0">
                <a:solidFill>
                  <a:srgbClr val="022851"/>
                </a:solidFill>
              </a:rPr>
              <a:t>Lecture</a:t>
            </a:r>
            <a:endParaRPr lang="en-US" sz="2200" dirty="0"/>
          </a:p>
        </p:txBody>
      </p:sp>
      <p:sp>
        <p:nvSpPr>
          <p:cNvPr id="7" name="Text 5"/>
          <p:cNvSpPr txBox="1"/>
          <p:nvPr/>
        </p:nvSpPr>
        <p:spPr>
          <a:xfrm>
            <a:off x="640080" y="3474720"/>
            <a:ext cx="3200400" cy="1463040"/>
          </a:xfrm>
          <a:prstGeom prst="rect">
            <a:avLst/>
          </a:prstGeom>
          <a:noFill/>
          <a:ln/>
        </p:spPr>
        <p:txBody>
          <a:bodyPr wrap="square" lIns="0" tIns="0" rIns="0" bIns="0" rtlCol="0" anchor="t"/>
          <a:lstStyle/>
          <a:p>
            <a:pPr marL="0" indent="0">
              <a:buNone/>
            </a:pPr>
            <a:r>
              <a:rPr lang="en-US" sz="1600" dirty="0">
                <a:solidFill>
                  <a:schemeClr val="tx1"/>
                </a:solidFill>
              </a:rPr>
              <a:t>Why data management and reproducibility matter, and how to do them</a:t>
            </a:r>
            <a:endParaRPr lang="en-US" sz="1600" dirty="0"/>
          </a:p>
        </p:txBody>
      </p:sp>
      <p:sp>
        <p:nvSpPr>
          <p:cNvPr id="8" name="step circle"/>
          <p:cNvSpPr/>
          <p:nvPr/>
        </p:nvSpPr>
        <p:spPr>
          <a:xfrm>
            <a:off x="4343400" y="1737360"/>
            <a:ext cx="868680" cy="868680"/>
          </a:xfrm>
          <a:prstGeom prst="ellipse">
            <a:avLst/>
          </a:prstGeom>
          <a:solidFill>
            <a:srgbClr val="FFBF00"/>
          </a:solidFill>
          <a:ln w="12700">
            <a:solidFill>
              <a:srgbClr val="FFBF00"/>
            </a:solidFill>
            <a:prstDash val="solid"/>
          </a:ln>
        </p:spPr>
        <p:txBody>
          <a:bodyPr/>
          <a:lstStyle/>
          <a:p>
            <a:endParaRPr lang="en-US"/>
          </a:p>
        </p:txBody>
      </p:sp>
      <p:sp>
        <p:nvSpPr>
          <p:cNvPr id="9" name="Text 7"/>
          <p:cNvSpPr txBox="1"/>
          <p:nvPr/>
        </p:nvSpPr>
        <p:spPr>
          <a:xfrm>
            <a:off x="4343400" y="1737360"/>
            <a:ext cx="868680" cy="868680"/>
          </a:xfrm>
          <a:prstGeom prst="rect">
            <a:avLst/>
          </a:prstGeom>
          <a:noFill/>
          <a:ln/>
        </p:spPr>
        <p:txBody>
          <a:bodyPr wrap="square" lIns="0" tIns="0" rIns="0" bIns="0" rtlCol="0" anchor="ctr"/>
          <a:lstStyle/>
          <a:p>
            <a:pPr marL="0" indent="0" algn="ctr">
              <a:buNone/>
            </a:pPr>
            <a:r>
              <a:rPr lang="en-US" sz="3000" b="1" dirty="0">
                <a:solidFill>
                  <a:srgbClr val="022851"/>
                </a:solidFill>
              </a:rPr>
              <a:t>2</a:t>
            </a:r>
            <a:endParaRPr lang="en-US" sz="3000" dirty="0"/>
          </a:p>
        </p:txBody>
      </p:sp>
      <p:sp>
        <p:nvSpPr>
          <p:cNvPr id="10" name="arrow"/>
          <p:cNvSpPr/>
          <p:nvPr/>
        </p:nvSpPr>
        <p:spPr>
          <a:xfrm>
            <a:off x="5394960" y="2171700"/>
            <a:ext cx="2468880" cy="0"/>
          </a:xfrm>
          <a:prstGeom prst="line">
            <a:avLst/>
          </a:prstGeom>
          <a:noFill/>
          <a:ln w="25400">
            <a:solidFill>
              <a:srgbClr val="B8C3CF"/>
            </a:solidFill>
            <a:prstDash val="dash"/>
            <a:tailEnd type="triangle"/>
          </a:ln>
        </p:spPr>
        <p:txBody>
          <a:bodyPr/>
          <a:lstStyle/>
          <a:p>
            <a:endParaRPr lang="en-US"/>
          </a:p>
        </p:txBody>
      </p:sp>
      <p:sp>
        <p:nvSpPr>
          <p:cNvPr id="11" name="Text 9"/>
          <p:cNvSpPr txBox="1"/>
          <p:nvPr/>
        </p:nvSpPr>
        <p:spPr>
          <a:xfrm>
            <a:off x="4343400" y="2880360"/>
            <a:ext cx="3291840" cy="548640"/>
          </a:xfrm>
          <a:prstGeom prst="rect">
            <a:avLst/>
          </a:prstGeom>
          <a:noFill/>
          <a:ln/>
        </p:spPr>
        <p:txBody>
          <a:bodyPr wrap="square" lIns="0" tIns="0" rIns="0" bIns="0" rtlCol="0" anchor="t"/>
          <a:lstStyle/>
          <a:p>
            <a:pPr marL="0" indent="0">
              <a:buNone/>
            </a:pPr>
            <a:r>
              <a:rPr lang="en-US" sz="2200" b="1" dirty="0">
                <a:solidFill>
                  <a:srgbClr val="022851"/>
                </a:solidFill>
              </a:rPr>
              <a:t>R Quest (live demo)</a:t>
            </a:r>
            <a:endParaRPr lang="en-US" sz="2200" dirty="0"/>
          </a:p>
        </p:txBody>
      </p:sp>
      <p:sp>
        <p:nvSpPr>
          <p:cNvPr id="12" name="Text 10"/>
          <p:cNvSpPr txBox="1"/>
          <p:nvPr/>
        </p:nvSpPr>
        <p:spPr>
          <a:xfrm>
            <a:off x="4343400" y="3474720"/>
            <a:ext cx="3200400" cy="1463040"/>
          </a:xfrm>
          <a:prstGeom prst="rect">
            <a:avLst/>
          </a:prstGeom>
          <a:noFill/>
          <a:ln/>
        </p:spPr>
        <p:txBody>
          <a:bodyPr wrap="square" lIns="0" tIns="0" rIns="0" bIns="0" rtlCol="0" anchor="t"/>
          <a:lstStyle/>
          <a:p>
            <a:pPr marL="0" indent="0">
              <a:buNone/>
            </a:pPr>
            <a:r>
              <a:rPr lang="en-US" sz="1600" dirty="0">
                <a:solidFill>
                  <a:schemeClr val="tx1"/>
                </a:solidFill>
              </a:rPr>
              <a:t>Introduction to R.ipynb in Colab: 6 levels and a boss level, ending with an epi curve</a:t>
            </a:r>
            <a:endParaRPr lang="en-US" sz="1600" dirty="0"/>
          </a:p>
        </p:txBody>
      </p:sp>
      <p:sp>
        <p:nvSpPr>
          <p:cNvPr id="13" name="step circle"/>
          <p:cNvSpPr/>
          <p:nvPr/>
        </p:nvSpPr>
        <p:spPr>
          <a:xfrm>
            <a:off x="8046720" y="1737360"/>
            <a:ext cx="868680" cy="868680"/>
          </a:xfrm>
          <a:prstGeom prst="ellipse">
            <a:avLst/>
          </a:prstGeom>
          <a:solidFill>
            <a:srgbClr val="022851"/>
          </a:solidFill>
          <a:ln w="12700">
            <a:solidFill>
              <a:srgbClr val="022851"/>
            </a:solidFill>
            <a:prstDash val="solid"/>
          </a:ln>
        </p:spPr>
        <p:txBody>
          <a:bodyPr/>
          <a:lstStyle/>
          <a:p>
            <a:endParaRPr lang="en-US"/>
          </a:p>
        </p:txBody>
      </p:sp>
      <p:sp>
        <p:nvSpPr>
          <p:cNvPr id="14" name="Text 12"/>
          <p:cNvSpPr txBox="1"/>
          <p:nvPr/>
        </p:nvSpPr>
        <p:spPr>
          <a:xfrm>
            <a:off x="8046720" y="1737360"/>
            <a:ext cx="868680" cy="868680"/>
          </a:xfrm>
          <a:prstGeom prst="rect">
            <a:avLst/>
          </a:prstGeom>
          <a:noFill/>
          <a:ln/>
        </p:spPr>
        <p:txBody>
          <a:bodyPr wrap="square" lIns="0" tIns="0" rIns="0" bIns="0" rtlCol="0" anchor="ctr"/>
          <a:lstStyle/>
          <a:p>
            <a:pPr marL="0" indent="0" algn="ctr">
              <a:buNone/>
            </a:pPr>
            <a:r>
              <a:rPr lang="en-US" sz="3000" b="1" dirty="0">
                <a:solidFill>
                  <a:srgbClr val="FFFFFF"/>
                </a:solidFill>
              </a:rPr>
              <a:t>3</a:t>
            </a:r>
            <a:endParaRPr lang="en-US" sz="3000" dirty="0"/>
          </a:p>
        </p:txBody>
      </p:sp>
      <p:sp>
        <p:nvSpPr>
          <p:cNvPr id="15" name="Text 13"/>
          <p:cNvSpPr txBox="1"/>
          <p:nvPr/>
        </p:nvSpPr>
        <p:spPr>
          <a:xfrm>
            <a:off x="8046720" y="2880360"/>
            <a:ext cx="3291840" cy="548640"/>
          </a:xfrm>
          <a:prstGeom prst="rect">
            <a:avLst/>
          </a:prstGeom>
          <a:noFill/>
          <a:ln/>
        </p:spPr>
        <p:txBody>
          <a:bodyPr wrap="square" lIns="0" tIns="0" rIns="0" bIns="0" rtlCol="0" anchor="t"/>
          <a:lstStyle/>
          <a:p>
            <a:pPr marL="0" indent="0">
              <a:buNone/>
            </a:pPr>
            <a:r>
              <a:rPr lang="en-US" sz="2200" b="1" dirty="0">
                <a:solidFill>
                  <a:srgbClr val="022851"/>
                </a:solidFill>
              </a:rPr>
              <a:t>Assignment</a:t>
            </a:r>
            <a:endParaRPr lang="en-US" sz="2200" dirty="0"/>
          </a:p>
        </p:txBody>
      </p:sp>
      <p:sp>
        <p:nvSpPr>
          <p:cNvPr id="16" name="Text 14"/>
          <p:cNvSpPr txBox="1"/>
          <p:nvPr/>
        </p:nvSpPr>
        <p:spPr>
          <a:xfrm>
            <a:off x="8046720" y="3474720"/>
            <a:ext cx="3200400" cy="1463040"/>
          </a:xfrm>
          <a:prstGeom prst="rect">
            <a:avLst/>
          </a:prstGeom>
          <a:noFill/>
          <a:ln/>
        </p:spPr>
        <p:txBody>
          <a:bodyPr wrap="square" lIns="0" tIns="0" rIns="0" bIns="0" rtlCol="0" anchor="t"/>
          <a:lstStyle/>
          <a:p>
            <a:pPr marL="0" indent="0">
              <a:buNone/>
            </a:pPr>
            <a:r>
              <a:rPr lang="en-US" sz="1600" dirty="0">
                <a:solidFill>
                  <a:schemeClr val="tx1"/>
                </a:solidFill>
              </a:rPr>
              <a:t>Will the Hummers Survive? Rescue records from California wildlife rehab centers</a:t>
            </a:r>
            <a:endParaRPr lang="en-US" sz="1600" dirty="0"/>
          </a:p>
        </p:txBody>
      </p:sp>
      <p:sp>
        <p:nvSpPr>
          <p:cNvPr id="17" name="card"/>
          <p:cNvSpPr/>
          <p:nvPr/>
        </p:nvSpPr>
        <p:spPr>
          <a:xfrm>
            <a:off x="640080" y="5120640"/>
            <a:ext cx="10881360" cy="868680"/>
          </a:xfrm>
          <a:prstGeom prst="roundRect">
            <a:avLst>
              <a:gd name="adj" fmla="val 12632"/>
            </a:avLst>
          </a:prstGeom>
          <a:solidFill>
            <a:srgbClr val="FFF2CC"/>
          </a:solidFill>
          <a:ln w="12700">
            <a:solidFill>
              <a:srgbClr val="FFF2CC"/>
            </a:solidFill>
            <a:prstDash val="solid"/>
          </a:ln>
        </p:spPr>
        <p:txBody>
          <a:bodyPr/>
          <a:lstStyle/>
          <a:p>
            <a:endParaRPr lang="en-US"/>
          </a:p>
        </p:txBody>
      </p:sp>
      <p:sp>
        <p:nvSpPr>
          <p:cNvPr id="18" name="Text 16"/>
          <p:cNvSpPr txBox="1"/>
          <p:nvPr/>
        </p:nvSpPr>
        <p:spPr>
          <a:xfrm>
            <a:off x="914400" y="5120640"/>
            <a:ext cx="10424160" cy="868680"/>
          </a:xfrm>
          <a:prstGeom prst="rect">
            <a:avLst/>
          </a:prstGeom>
          <a:noFill/>
          <a:ln/>
        </p:spPr>
        <p:txBody>
          <a:bodyPr wrap="square" lIns="0" tIns="0" rIns="0" bIns="0" rtlCol="0" anchor="ctr"/>
          <a:lstStyle/>
          <a:p>
            <a:pPr marL="0" indent="0">
              <a:buNone/>
            </a:pPr>
            <a:r>
              <a:rPr lang="en-US" sz="1600" b="1" dirty="0">
                <a:solidFill>
                  <a:srgbClr val="022851"/>
                </a:solidFill>
              </a:rPr>
              <a:t>Before the demo: </a:t>
            </a:r>
            <a:r>
              <a:rPr lang="en-US" sz="1600" dirty="0">
                <a:solidFill>
                  <a:schemeClr val="tx1"/>
                </a:solidFill>
              </a:rPr>
              <a:t>open the notebook from the course GitHub with the Open in Colab badge and switch the runtime to R.</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6035040" cy="822960"/>
          </a:xfrm>
          <a:prstGeom prst="rect">
            <a:avLst/>
          </a:prstGeom>
          <a:noFill/>
          <a:ln/>
        </p:spPr>
        <p:txBody>
          <a:bodyPr wrap="square" lIns="0" tIns="0" rIns="0" bIns="0" rtlCol="0" anchor="ctr"/>
          <a:lstStyle/>
          <a:p>
            <a:pPr marL="0" indent="0" algn="l">
              <a:buNone/>
            </a:pPr>
            <a:r>
              <a:rPr lang="en-US" sz="3400" b="1" dirty="0">
                <a:solidFill>
                  <a:srgbClr val="022851"/>
                </a:solidFill>
              </a:rPr>
              <a:t>Data is valuable</a:t>
            </a:r>
            <a:endParaRPr lang="en-US" sz="3400" dirty="0"/>
          </a:p>
        </p:txBody>
      </p:sp>
      <p:pic>
        <p:nvPicPr>
          <p:cNvPr id="3" name="field photo" descr="jungle.jpg"/>
          <p:cNvPicPr>
            <a:picLocks noChangeAspect="1"/>
          </p:cNvPicPr>
          <p:nvPr/>
        </p:nvPicPr>
        <p:blipFill>
          <a:blip r:embed="rId3"/>
          <a:srcRect/>
          <a:stretch/>
        </p:blipFill>
        <p:spPr>
          <a:xfrm>
            <a:off x="7086600" y="0"/>
            <a:ext cx="5105095" cy="6858000"/>
          </a:xfrm>
          <a:prstGeom prst="rect">
            <a:avLst/>
          </a:prstGeom>
        </p:spPr>
      </p:pic>
      <p:sp>
        <p:nvSpPr>
          <p:cNvPr id="4" name="Text 1"/>
          <p:cNvSpPr txBox="1"/>
          <p:nvPr/>
        </p:nvSpPr>
        <p:spPr>
          <a:xfrm>
            <a:off x="640080" y="1737360"/>
            <a:ext cx="5852160" cy="1005840"/>
          </a:xfrm>
          <a:prstGeom prst="rect">
            <a:avLst/>
          </a:prstGeom>
          <a:noFill/>
          <a:ln/>
        </p:spPr>
        <p:txBody>
          <a:bodyPr wrap="square" lIns="0" tIns="0" rIns="0" bIns="0" rtlCol="0" anchor="t"/>
          <a:lstStyle/>
          <a:p>
            <a:pPr marL="0" indent="0">
              <a:buNone/>
            </a:pPr>
            <a:r>
              <a:rPr lang="en-US" sz="2400" b="1" dirty="0">
                <a:solidFill>
                  <a:srgbClr val="022851"/>
                </a:solidFill>
              </a:rPr>
              <a:t>Great effort goes into collecting data systematically.</a:t>
            </a:r>
            <a:endParaRPr lang="en-US" sz="2400" dirty="0"/>
          </a:p>
        </p:txBody>
      </p:sp>
      <p:sp>
        <p:nvSpPr>
          <p:cNvPr id="5" name="Text 2"/>
          <p:cNvSpPr txBox="1"/>
          <p:nvPr/>
        </p:nvSpPr>
        <p:spPr>
          <a:xfrm>
            <a:off x="640080" y="2880360"/>
            <a:ext cx="5669280" cy="1097280"/>
          </a:xfrm>
          <a:prstGeom prst="rect">
            <a:avLst/>
          </a:prstGeom>
          <a:noFill/>
          <a:ln/>
        </p:spPr>
        <p:txBody>
          <a:bodyPr wrap="square" lIns="0" tIns="0" rIns="0" bIns="0" rtlCol="0" anchor="t"/>
          <a:lstStyle/>
          <a:p>
            <a:pPr marL="0" indent="0">
              <a:buNone/>
            </a:pPr>
            <a:r>
              <a:rPr lang="en-US" sz="1800" dirty="0">
                <a:solidFill>
                  <a:schemeClr val="tx1"/>
                </a:solidFill>
              </a:rPr>
              <a:t>Hard work, meticulous planning and resources go into every dataset: field teams, permits, lab time, funding.</a:t>
            </a:r>
            <a:endParaRPr lang="en-US" sz="1800" dirty="0"/>
          </a:p>
        </p:txBody>
      </p:sp>
      <p:sp>
        <p:nvSpPr>
          <p:cNvPr id="6" name="card"/>
          <p:cNvSpPr/>
          <p:nvPr/>
        </p:nvSpPr>
        <p:spPr>
          <a:xfrm>
            <a:off x="640080" y="4343400"/>
            <a:ext cx="5669280" cy="1371600"/>
          </a:xfrm>
          <a:prstGeom prst="roundRect">
            <a:avLst>
              <a:gd name="adj" fmla="val 8000"/>
            </a:avLst>
          </a:prstGeom>
          <a:solidFill>
            <a:srgbClr val="FFF2CC"/>
          </a:solidFill>
          <a:ln w="12700">
            <a:solidFill>
              <a:srgbClr val="FFF2CC"/>
            </a:solidFill>
            <a:prstDash val="solid"/>
          </a:ln>
        </p:spPr>
        <p:txBody>
          <a:bodyPr/>
          <a:lstStyle/>
          <a:p>
            <a:endParaRPr lang="en-US"/>
          </a:p>
        </p:txBody>
      </p:sp>
      <p:sp>
        <p:nvSpPr>
          <p:cNvPr id="7" name="Text 4"/>
          <p:cNvSpPr txBox="1"/>
          <p:nvPr/>
        </p:nvSpPr>
        <p:spPr>
          <a:xfrm>
            <a:off x="914400" y="4343400"/>
            <a:ext cx="5212080" cy="1371600"/>
          </a:xfrm>
          <a:prstGeom prst="rect">
            <a:avLst/>
          </a:prstGeom>
          <a:noFill/>
          <a:ln/>
        </p:spPr>
        <p:txBody>
          <a:bodyPr wrap="square" lIns="0" tIns="0" rIns="0" bIns="0" rtlCol="0" anchor="ctr"/>
          <a:lstStyle/>
          <a:p>
            <a:pPr marL="0" indent="0">
              <a:buNone/>
            </a:pPr>
            <a:r>
              <a:rPr lang="en-US" sz="1800" b="1" dirty="0">
                <a:solidFill>
                  <a:srgbClr val="022851"/>
                </a:solidFill>
              </a:rPr>
              <a:t>Losing, corrupting or being unable to re-use data wastes all of that effort.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Why data management?</a:t>
            </a:r>
            <a:endParaRPr lang="en-US" sz="3400" dirty="0"/>
          </a:p>
        </p:txBody>
      </p:sp>
      <p:sp>
        <p:nvSpPr>
          <p:cNvPr id="3" name="photo frame"/>
          <p:cNvSpPr/>
          <p:nvPr/>
        </p:nvSpPr>
        <p:spPr>
          <a:xfrm>
            <a:off x="8001000" y="1554480"/>
            <a:ext cx="3520440" cy="4407408"/>
          </a:xfrm>
          <a:prstGeom prst="rect">
            <a:avLst/>
          </a:prstGeom>
          <a:solidFill>
            <a:srgbClr val="FFBF00"/>
          </a:solidFill>
          <a:ln w="12700">
            <a:solidFill>
              <a:srgbClr val="FFBF00"/>
            </a:solidFill>
            <a:prstDash val="solid"/>
          </a:ln>
        </p:spPr>
        <p:txBody>
          <a:bodyPr/>
          <a:lstStyle/>
          <a:p>
            <a:endParaRPr lang="en-US"/>
          </a:p>
        </p:txBody>
      </p:sp>
      <p:pic>
        <p:nvPicPr>
          <p:cNvPr id="4" name="photo" descr="comic.png"/>
          <p:cNvPicPr>
            <a:picLocks noChangeAspect="1"/>
          </p:cNvPicPr>
          <p:nvPr/>
        </p:nvPicPr>
        <p:blipFill>
          <a:blip r:embed="rId3"/>
          <a:stretch>
            <a:fillRect/>
          </a:stretch>
        </p:blipFill>
        <p:spPr>
          <a:xfrm>
            <a:off x="7863840" y="1417320"/>
            <a:ext cx="3520440" cy="4407408"/>
          </a:xfrm>
          <a:prstGeom prst="rect">
            <a:avLst/>
          </a:prstGeom>
        </p:spPr>
      </p:pic>
      <p:sp>
        <p:nvSpPr>
          <p:cNvPr id="5" name="icon circle"/>
          <p:cNvSpPr/>
          <p:nvPr/>
        </p:nvSpPr>
        <p:spPr>
          <a:xfrm>
            <a:off x="640080" y="1691640"/>
            <a:ext cx="822960" cy="822960"/>
          </a:xfrm>
          <a:prstGeom prst="ellipse">
            <a:avLst/>
          </a:prstGeom>
          <a:solidFill>
            <a:srgbClr val="FFBF00"/>
          </a:solidFill>
          <a:ln w="12700">
            <a:solidFill>
              <a:srgbClr val="FFBF00"/>
            </a:solidFill>
            <a:prstDash val="solid"/>
          </a:ln>
        </p:spPr>
        <p:txBody>
          <a:bodyPr/>
          <a:lstStyle/>
          <a:p>
            <a:endParaRPr lang="en-US"/>
          </a:p>
        </p:txBody>
      </p:sp>
      <p:pic>
        <p:nvPicPr>
          <p:cNvPr id="6" name="icon" descr="preencoded.png"/>
          <p:cNvPicPr>
            <a:picLocks noChangeAspect="1"/>
          </p:cNvPicPr>
          <p:nvPr/>
        </p:nvPicPr>
        <p:blipFill>
          <a:blip r:embed="rId4"/>
          <a:stretch>
            <a:fillRect/>
          </a:stretch>
        </p:blipFill>
        <p:spPr>
          <a:xfrm>
            <a:off x="845820" y="1897380"/>
            <a:ext cx="411480" cy="411480"/>
          </a:xfrm>
          <a:prstGeom prst="rect">
            <a:avLst/>
          </a:prstGeom>
        </p:spPr>
      </p:pic>
      <p:sp>
        <p:nvSpPr>
          <p:cNvPr id="7" name="Text 3"/>
          <p:cNvSpPr txBox="1"/>
          <p:nvPr/>
        </p:nvSpPr>
        <p:spPr>
          <a:xfrm>
            <a:off x="1737360" y="1645920"/>
            <a:ext cx="5394960" cy="502920"/>
          </a:xfrm>
          <a:prstGeom prst="rect">
            <a:avLst/>
          </a:prstGeom>
          <a:noFill/>
          <a:ln/>
        </p:spPr>
        <p:txBody>
          <a:bodyPr wrap="square" lIns="0" tIns="0" rIns="0" bIns="0" rtlCol="0" anchor="t"/>
          <a:lstStyle/>
          <a:p>
            <a:pPr marL="0" indent="0">
              <a:buNone/>
            </a:pPr>
            <a:r>
              <a:rPr lang="en-US" sz="2200" b="1" dirty="0">
                <a:solidFill>
                  <a:srgbClr val="022851"/>
                </a:solidFill>
              </a:rPr>
              <a:t>Safe storage and sharing</a:t>
            </a:r>
            <a:endParaRPr lang="en-US" sz="2200" dirty="0"/>
          </a:p>
        </p:txBody>
      </p:sp>
      <p:sp>
        <p:nvSpPr>
          <p:cNvPr id="8" name="Text 4"/>
          <p:cNvSpPr txBox="1"/>
          <p:nvPr/>
        </p:nvSpPr>
        <p:spPr>
          <a:xfrm>
            <a:off x="1737360" y="2194560"/>
            <a:ext cx="5394960" cy="914400"/>
          </a:xfrm>
          <a:prstGeom prst="rect">
            <a:avLst/>
          </a:prstGeom>
          <a:noFill/>
          <a:ln/>
        </p:spPr>
        <p:txBody>
          <a:bodyPr wrap="square" lIns="0" tIns="0" rIns="0" bIns="0" rtlCol="0" anchor="t"/>
          <a:lstStyle/>
          <a:p>
            <a:pPr marL="0" indent="0">
              <a:buNone/>
            </a:pPr>
            <a:r>
              <a:rPr lang="en-US" sz="1700" dirty="0">
                <a:solidFill>
                  <a:schemeClr val="tx1"/>
                </a:solidFill>
              </a:rPr>
              <a:t>Data that survive a broken laptop, a graduate, and a reviewer's request.</a:t>
            </a:r>
            <a:endParaRPr lang="en-US" sz="1700" dirty="0"/>
          </a:p>
        </p:txBody>
      </p:sp>
      <p:sp>
        <p:nvSpPr>
          <p:cNvPr id="9" name="icon circle"/>
          <p:cNvSpPr/>
          <p:nvPr/>
        </p:nvSpPr>
        <p:spPr>
          <a:xfrm>
            <a:off x="640080" y="3657600"/>
            <a:ext cx="822960" cy="822960"/>
          </a:xfrm>
          <a:prstGeom prst="ellipse">
            <a:avLst/>
          </a:prstGeom>
          <a:solidFill>
            <a:srgbClr val="FFBF00"/>
          </a:solidFill>
          <a:ln w="12700">
            <a:solidFill>
              <a:srgbClr val="FFBF00"/>
            </a:solidFill>
            <a:prstDash val="solid"/>
          </a:ln>
        </p:spPr>
        <p:txBody>
          <a:bodyPr/>
          <a:lstStyle/>
          <a:p>
            <a:endParaRPr lang="en-US"/>
          </a:p>
        </p:txBody>
      </p:sp>
      <p:pic>
        <p:nvPicPr>
          <p:cNvPr id="10" name="icon" descr="preencoded.png"/>
          <p:cNvPicPr>
            <a:picLocks noChangeAspect="1"/>
          </p:cNvPicPr>
          <p:nvPr/>
        </p:nvPicPr>
        <p:blipFill>
          <a:blip r:embed="rId5"/>
          <a:stretch>
            <a:fillRect/>
          </a:stretch>
        </p:blipFill>
        <p:spPr>
          <a:xfrm>
            <a:off x="845820" y="3863340"/>
            <a:ext cx="411480" cy="411480"/>
          </a:xfrm>
          <a:prstGeom prst="rect">
            <a:avLst/>
          </a:prstGeom>
        </p:spPr>
      </p:pic>
      <p:sp>
        <p:nvSpPr>
          <p:cNvPr id="11" name="Text 6"/>
          <p:cNvSpPr txBox="1"/>
          <p:nvPr/>
        </p:nvSpPr>
        <p:spPr>
          <a:xfrm>
            <a:off x="1737360" y="3611880"/>
            <a:ext cx="5394960" cy="502920"/>
          </a:xfrm>
          <a:prstGeom prst="rect">
            <a:avLst/>
          </a:prstGeom>
          <a:noFill/>
          <a:ln/>
        </p:spPr>
        <p:txBody>
          <a:bodyPr wrap="square" lIns="0" tIns="0" rIns="0" bIns="0" rtlCol="0" anchor="t"/>
          <a:lstStyle/>
          <a:p>
            <a:pPr marL="0" indent="0">
              <a:buNone/>
            </a:pPr>
            <a:r>
              <a:rPr lang="en-US" sz="2200" b="1" dirty="0">
                <a:solidFill>
                  <a:srgbClr val="022851"/>
                </a:solidFill>
              </a:rPr>
              <a:t>Reproducible research</a:t>
            </a:r>
            <a:endParaRPr lang="en-US" sz="2200" dirty="0"/>
          </a:p>
        </p:txBody>
      </p:sp>
      <p:sp>
        <p:nvSpPr>
          <p:cNvPr id="12" name="Text 7"/>
          <p:cNvSpPr txBox="1"/>
          <p:nvPr/>
        </p:nvSpPr>
        <p:spPr>
          <a:xfrm>
            <a:off x="1737360" y="4160520"/>
            <a:ext cx="5394960" cy="914400"/>
          </a:xfrm>
          <a:prstGeom prst="rect">
            <a:avLst/>
          </a:prstGeom>
          <a:noFill/>
          <a:ln/>
        </p:spPr>
        <p:txBody>
          <a:bodyPr wrap="square" lIns="0" tIns="0" rIns="0" bIns="0" rtlCol="0" anchor="t"/>
          <a:lstStyle/>
          <a:p>
            <a:pPr marL="0" indent="0">
              <a:buNone/>
            </a:pPr>
            <a:r>
              <a:rPr lang="en-US" sz="1700" dirty="0">
                <a:solidFill>
                  <a:schemeClr val="tx1"/>
                </a:solidFill>
              </a:rPr>
              <a:t>Anyone, including future you, can re-run the analysis and get the same answer.</a:t>
            </a:r>
            <a:endParaRPr lang="en-US" sz="1700" dirty="0"/>
          </a:p>
        </p:txBody>
      </p:sp>
      <p:sp>
        <p:nvSpPr>
          <p:cNvPr id="13" name="Text 8"/>
          <p:cNvSpPr txBox="1"/>
          <p:nvPr/>
        </p:nvSpPr>
        <p:spPr>
          <a:xfrm>
            <a:off x="640080" y="5623560"/>
            <a:ext cx="6766560" cy="457200"/>
          </a:xfrm>
          <a:prstGeom prst="rect">
            <a:avLst/>
          </a:prstGeom>
          <a:noFill/>
          <a:ln/>
        </p:spPr>
        <p:txBody>
          <a:bodyPr wrap="square" lIns="0" tIns="0" rIns="0" bIns="0" rtlCol="0" anchor="t"/>
          <a:lstStyle/>
          <a:p>
            <a:pPr marL="0" indent="0">
              <a:buNone/>
            </a:pPr>
            <a:r>
              <a:rPr lang="en-US" sz="1100" i="1" dirty="0">
                <a:solidFill>
                  <a:srgbClr val="5B6770"/>
                </a:solidFill>
              </a:rPr>
              <a:t>Alston JM &amp; Rick JA (2021). A beginner's guide to conducting reproducible research. Bull Ecol Soc Am 102(2):e01801.</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Five habits of good data management</a:t>
            </a:r>
            <a:endParaRPr lang="en-US" sz="3400" dirty="0"/>
          </a:p>
        </p:txBody>
      </p:sp>
      <p:sp>
        <p:nvSpPr>
          <p:cNvPr id="3" name="card"/>
          <p:cNvSpPr/>
          <p:nvPr/>
        </p:nvSpPr>
        <p:spPr>
          <a:xfrm>
            <a:off x="640080" y="1737360"/>
            <a:ext cx="2011680" cy="329184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4" name="icon circle"/>
          <p:cNvSpPr/>
          <p:nvPr/>
        </p:nvSpPr>
        <p:spPr>
          <a:xfrm>
            <a:off x="1188720" y="2103120"/>
            <a:ext cx="914400" cy="914400"/>
          </a:xfrm>
          <a:prstGeom prst="ellipse">
            <a:avLst/>
          </a:prstGeom>
          <a:solidFill>
            <a:srgbClr val="FFBF00"/>
          </a:solidFill>
          <a:ln w="12700">
            <a:solidFill>
              <a:srgbClr val="FFBF00"/>
            </a:solidFill>
            <a:prstDash val="solid"/>
          </a:ln>
        </p:spPr>
        <p:txBody>
          <a:bodyPr/>
          <a:lstStyle/>
          <a:p>
            <a:endParaRPr lang="en-US"/>
          </a:p>
        </p:txBody>
      </p:sp>
      <p:pic>
        <p:nvPicPr>
          <p:cNvPr id="5" name="icon" descr="preencoded.png"/>
          <p:cNvPicPr>
            <a:picLocks noChangeAspect="1"/>
          </p:cNvPicPr>
          <p:nvPr/>
        </p:nvPicPr>
        <p:blipFill>
          <a:blip r:embed="rId3"/>
          <a:stretch>
            <a:fillRect/>
          </a:stretch>
        </p:blipFill>
        <p:spPr>
          <a:xfrm>
            <a:off x="1417320" y="2331720"/>
            <a:ext cx="457200" cy="457200"/>
          </a:xfrm>
          <a:prstGeom prst="rect">
            <a:avLst/>
          </a:prstGeom>
        </p:spPr>
      </p:pic>
      <p:sp>
        <p:nvSpPr>
          <p:cNvPr id="6" name="Text 3"/>
          <p:cNvSpPr txBox="1"/>
          <p:nvPr/>
        </p:nvSpPr>
        <p:spPr>
          <a:xfrm>
            <a:off x="777240" y="3246120"/>
            <a:ext cx="1737360" cy="502920"/>
          </a:xfrm>
          <a:prstGeom prst="rect">
            <a:avLst/>
          </a:prstGeom>
          <a:noFill/>
          <a:ln/>
        </p:spPr>
        <p:txBody>
          <a:bodyPr wrap="square" lIns="0" tIns="0" rIns="0" bIns="0" rtlCol="0" anchor="t"/>
          <a:lstStyle/>
          <a:p>
            <a:pPr marL="0" indent="0" algn="ctr">
              <a:buNone/>
            </a:pPr>
            <a:r>
              <a:rPr lang="en-US" sz="2200" b="1" dirty="0">
                <a:solidFill>
                  <a:srgbClr val="022851"/>
                </a:solidFill>
              </a:rPr>
              <a:t>Organize</a:t>
            </a:r>
            <a:endParaRPr lang="en-US" sz="2200" dirty="0"/>
          </a:p>
        </p:txBody>
      </p:sp>
      <p:sp>
        <p:nvSpPr>
          <p:cNvPr id="7" name="Text 4"/>
          <p:cNvSpPr txBox="1"/>
          <p:nvPr/>
        </p:nvSpPr>
        <p:spPr>
          <a:xfrm>
            <a:off x="777240" y="3794760"/>
            <a:ext cx="1737360" cy="914400"/>
          </a:xfrm>
          <a:prstGeom prst="rect">
            <a:avLst/>
          </a:prstGeom>
          <a:noFill/>
          <a:ln/>
        </p:spPr>
        <p:txBody>
          <a:bodyPr wrap="square" lIns="0" tIns="0" rIns="0" bIns="0" rtlCol="0" anchor="t"/>
          <a:lstStyle/>
          <a:p>
            <a:pPr marL="0" indent="0" algn="ctr">
              <a:buNone/>
            </a:pPr>
            <a:r>
              <a:rPr lang="en-US" sz="1600" dirty="0">
                <a:solidFill>
                  <a:schemeClr val="tx1"/>
                </a:solidFill>
              </a:rPr>
              <a:t>your project folder</a:t>
            </a:r>
            <a:endParaRPr lang="en-US" sz="1600" dirty="0"/>
          </a:p>
        </p:txBody>
      </p:sp>
      <p:sp>
        <p:nvSpPr>
          <p:cNvPr id="8" name="card"/>
          <p:cNvSpPr/>
          <p:nvPr/>
        </p:nvSpPr>
        <p:spPr>
          <a:xfrm>
            <a:off x="2862072" y="1737360"/>
            <a:ext cx="2011680" cy="329184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9" name="icon circle"/>
          <p:cNvSpPr/>
          <p:nvPr/>
        </p:nvSpPr>
        <p:spPr>
          <a:xfrm>
            <a:off x="3410712" y="2103120"/>
            <a:ext cx="914400" cy="914400"/>
          </a:xfrm>
          <a:prstGeom prst="ellipse">
            <a:avLst/>
          </a:prstGeom>
          <a:solidFill>
            <a:srgbClr val="FFBF00"/>
          </a:solidFill>
          <a:ln w="12700">
            <a:solidFill>
              <a:srgbClr val="FFBF00"/>
            </a:solidFill>
            <a:prstDash val="solid"/>
          </a:ln>
        </p:spPr>
        <p:txBody>
          <a:bodyPr/>
          <a:lstStyle/>
          <a:p>
            <a:endParaRPr lang="en-US"/>
          </a:p>
        </p:txBody>
      </p:sp>
      <p:pic>
        <p:nvPicPr>
          <p:cNvPr id="10" name="icon" descr="preencoded.png"/>
          <p:cNvPicPr>
            <a:picLocks noChangeAspect="1"/>
          </p:cNvPicPr>
          <p:nvPr/>
        </p:nvPicPr>
        <p:blipFill>
          <a:blip r:embed="rId4"/>
          <a:stretch>
            <a:fillRect/>
          </a:stretch>
        </p:blipFill>
        <p:spPr>
          <a:xfrm>
            <a:off x="3639312" y="2331720"/>
            <a:ext cx="457200" cy="457200"/>
          </a:xfrm>
          <a:prstGeom prst="rect">
            <a:avLst/>
          </a:prstGeom>
        </p:spPr>
      </p:pic>
      <p:sp>
        <p:nvSpPr>
          <p:cNvPr id="11" name="Text 7"/>
          <p:cNvSpPr txBox="1"/>
          <p:nvPr/>
        </p:nvSpPr>
        <p:spPr>
          <a:xfrm>
            <a:off x="2999232" y="3246120"/>
            <a:ext cx="1737360" cy="502920"/>
          </a:xfrm>
          <a:prstGeom prst="rect">
            <a:avLst/>
          </a:prstGeom>
          <a:noFill/>
          <a:ln/>
        </p:spPr>
        <p:txBody>
          <a:bodyPr wrap="square" lIns="0" tIns="0" rIns="0" bIns="0" rtlCol="0" anchor="t"/>
          <a:lstStyle/>
          <a:p>
            <a:pPr marL="0" indent="0" algn="ctr">
              <a:buNone/>
            </a:pPr>
            <a:r>
              <a:rPr lang="en-US" sz="2200" b="1" dirty="0">
                <a:solidFill>
                  <a:srgbClr val="022851"/>
                </a:solidFill>
              </a:rPr>
              <a:t>Protect</a:t>
            </a:r>
            <a:endParaRPr lang="en-US" sz="2200" dirty="0"/>
          </a:p>
        </p:txBody>
      </p:sp>
      <p:sp>
        <p:nvSpPr>
          <p:cNvPr id="12" name="Text 8"/>
          <p:cNvSpPr txBox="1"/>
          <p:nvPr/>
        </p:nvSpPr>
        <p:spPr>
          <a:xfrm>
            <a:off x="2999232" y="3794760"/>
            <a:ext cx="1737360" cy="914400"/>
          </a:xfrm>
          <a:prstGeom prst="rect">
            <a:avLst/>
          </a:prstGeom>
          <a:noFill/>
          <a:ln/>
        </p:spPr>
        <p:txBody>
          <a:bodyPr wrap="square" lIns="0" tIns="0" rIns="0" bIns="0" rtlCol="0" anchor="t"/>
          <a:lstStyle/>
          <a:p>
            <a:pPr marL="0" indent="0" algn="ctr">
              <a:buNone/>
            </a:pPr>
            <a:r>
              <a:rPr lang="en-US" sz="1600" dirty="0">
                <a:solidFill>
                  <a:schemeClr val="tx1"/>
                </a:solidFill>
              </a:rPr>
              <a:t>your raw data</a:t>
            </a:r>
            <a:endParaRPr lang="en-US" sz="1600" dirty="0"/>
          </a:p>
        </p:txBody>
      </p:sp>
      <p:sp>
        <p:nvSpPr>
          <p:cNvPr id="13" name="card"/>
          <p:cNvSpPr/>
          <p:nvPr/>
        </p:nvSpPr>
        <p:spPr>
          <a:xfrm>
            <a:off x="5084064" y="1737360"/>
            <a:ext cx="2011680" cy="329184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14" name="icon circle"/>
          <p:cNvSpPr/>
          <p:nvPr/>
        </p:nvSpPr>
        <p:spPr>
          <a:xfrm>
            <a:off x="5632704" y="2103120"/>
            <a:ext cx="914400" cy="914400"/>
          </a:xfrm>
          <a:prstGeom prst="ellipse">
            <a:avLst/>
          </a:prstGeom>
          <a:solidFill>
            <a:srgbClr val="FFBF00"/>
          </a:solidFill>
          <a:ln w="12700">
            <a:solidFill>
              <a:srgbClr val="FFBF00"/>
            </a:solidFill>
            <a:prstDash val="solid"/>
          </a:ln>
        </p:spPr>
        <p:txBody>
          <a:bodyPr/>
          <a:lstStyle/>
          <a:p>
            <a:endParaRPr lang="en-US"/>
          </a:p>
        </p:txBody>
      </p:sp>
      <p:pic>
        <p:nvPicPr>
          <p:cNvPr id="15" name="icon" descr="preencoded.png"/>
          <p:cNvPicPr>
            <a:picLocks noChangeAspect="1"/>
          </p:cNvPicPr>
          <p:nvPr/>
        </p:nvPicPr>
        <p:blipFill>
          <a:blip r:embed="rId5"/>
          <a:stretch>
            <a:fillRect/>
          </a:stretch>
        </p:blipFill>
        <p:spPr>
          <a:xfrm>
            <a:off x="5861304" y="2331720"/>
            <a:ext cx="457200" cy="457200"/>
          </a:xfrm>
          <a:prstGeom prst="rect">
            <a:avLst/>
          </a:prstGeom>
        </p:spPr>
      </p:pic>
      <p:sp>
        <p:nvSpPr>
          <p:cNvPr id="16" name="Text 11"/>
          <p:cNvSpPr txBox="1"/>
          <p:nvPr/>
        </p:nvSpPr>
        <p:spPr>
          <a:xfrm>
            <a:off x="5221224" y="3246120"/>
            <a:ext cx="1737360" cy="502920"/>
          </a:xfrm>
          <a:prstGeom prst="rect">
            <a:avLst/>
          </a:prstGeom>
          <a:noFill/>
          <a:ln/>
        </p:spPr>
        <p:txBody>
          <a:bodyPr wrap="square" lIns="0" tIns="0" rIns="0" bIns="0" rtlCol="0" anchor="t"/>
          <a:lstStyle/>
          <a:p>
            <a:pPr marL="0" indent="0" algn="ctr">
              <a:buNone/>
            </a:pPr>
            <a:r>
              <a:rPr lang="en-US" sz="2200" b="1" dirty="0">
                <a:solidFill>
                  <a:srgbClr val="022851"/>
                </a:solidFill>
              </a:rPr>
              <a:t>Name</a:t>
            </a:r>
            <a:endParaRPr lang="en-US" sz="2200" dirty="0"/>
          </a:p>
        </p:txBody>
      </p:sp>
      <p:sp>
        <p:nvSpPr>
          <p:cNvPr id="17" name="Text 12"/>
          <p:cNvSpPr txBox="1"/>
          <p:nvPr/>
        </p:nvSpPr>
        <p:spPr>
          <a:xfrm>
            <a:off x="5221224" y="3794760"/>
            <a:ext cx="1737360" cy="914400"/>
          </a:xfrm>
          <a:prstGeom prst="rect">
            <a:avLst/>
          </a:prstGeom>
          <a:noFill/>
          <a:ln/>
        </p:spPr>
        <p:txBody>
          <a:bodyPr wrap="square" lIns="0" tIns="0" rIns="0" bIns="0" rtlCol="0" anchor="t"/>
          <a:lstStyle/>
          <a:p>
            <a:pPr marL="0" indent="0" algn="ctr">
              <a:buNone/>
            </a:pPr>
            <a:r>
              <a:rPr lang="en-US" sz="1600" dirty="0">
                <a:solidFill>
                  <a:schemeClr val="tx1"/>
                </a:solidFill>
              </a:rPr>
              <a:t>your files effectively</a:t>
            </a:r>
            <a:endParaRPr lang="en-US" sz="1600" dirty="0"/>
          </a:p>
        </p:txBody>
      </p:sp>
      <p:sp>
        <p:nvSpPr>
          <p:cNvPr id="18" name="card"/>
          <p:cNvSpPr/>
          <p:nvPr/>
        </p:nvSpPr>
        <p:spPr>
          <a:xfrm>
            <a:off x="7306056" y="1737360"/>
            <a:ext cx="2011680" cy="329184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19" name="icon circle"/>
          <p:cNvSpPr/>
          <p:nvPr/>
        </p:nvSpPr>
        <p:spPr>
          <a:xfrm>
            <a:off x="7854696" y="2103120"/>
            <a:ext cx="914400" cy="914400"/>
          </a:xfrm>
          <a:prstGeom prst="ellipse">
            <a:avLst/>
          </a:prstGeom>
          <a:solidFill>
            <a:srgbClr val="FFBF00"/>
          </a:solidFill>
          <a:ln w="12700">
            <a:solidFill>
              <a:srgbClr val="FFBF00"/>
            </a:solidFill>
            <a:prstDash val="solid"/>
          </a:ln>
        </p:spPr>
        <p:txBody>
          <a:bodyPr/>
          <a:lstStyle/>
          <a:p>
            <a:endParaRPr lang="en-US"/>
          </a:p>
        </p:txBody>
      </p:sp>
      <p:pic>
        <p:nvPicPr>
          <p:cNvPr id="20" name="icon" descr="preencoded.png"/>
          <p:cNvPicPr>
            <a:picLocks noChangeAspect="1"/>
          </p:cNvPicPr>
          <p:nvPr/>
        </p:nvPicPr>
        <p:blipFill>
          <a:blip r:embed="rId6"/>
          <a:stretch>
            <a:fillRect/>
          </a:stretch>
        </p:blipFill>
        <p:spPr>
          <a:xfrm>
            <a:off x="8083296" y="2331720"/>
            <a:ext cx="457200" cy="457200"/>
          </a:xfrm>
          <a:prstGeom prst="rect">
            <a:avLst/>
          </a:prstGeom>
        </p:spPr>
      </p:pic>
      <p:sp>
        <p:nvSpPr>
          <p:cNvPr id="21" name="Text 15"/>
          <p:cNvSpPr txBox="1"/>
          <p:nvPr/>
        </p:nvSpPr>
        <p:spPr>
          <a:xfrm>
            <a:off x="7443216" y="3246120"/>
            <a:ext cx="1737360" cy="502920"/>
          </a:xfrm>
          <a:prstGeom prst="rect">
            <a:avLst/>
          </a:prstGeom>
          <a:noFill/>
          <a:ln/>
        </p:spPr>
        <p:txBody>
          <a:bodyPr wrap="square" lIns="0" tIns="0" rIns="0" bIns="0" rtlCol="0" anchor="t"/>
          <a:lstStyle/>
          <a:p>
            <a:pPr marL="0" indent="0" algn="ctr">
              <a:buNone/>
            </a:pPr>
            <a:r>
              <a:rPr lang="en-US" sz="2200" b="1" dirty="0">
                <a:solidFill>
                  <a:srgbClr val="022851"/>
                </a:solidFill>
              </a:rPr>
              <a:t>Track</a:t>
            </a:r>
            <a:endParaRPr lang="en-US" sz="2200" dirty="0"/>
          </a:p>
        </p:txBody>
      </p:sp>
      <p:sp>
        <p:nvSpPr>
          <p:cNvPr id="22" name="Text 16"/>
          <p:cNvSpPr txBox="1"/>
          <p:nvPr/>
        </p:nvSpPr>
        <p:spPr>
          <a:xfrm>
            <a:off x="7443216" y="3794760"/>
            <a:ext cx="1737360" cy="914400"/>
          </a:xfrm>
          <a:prstGeom prst="rect">
            <a:avLst/>
          </a:prstGeom>
          <a:noFill/>
          <a:ln/>
        </p:spPr>
        <p:txBody>
          <a:bodyPr wrap="square" lIns="0" tIns="0" rIns="0" bIns="0" rtlCol="0" anchor="t"/>
          <a:lstStyle/>
          <a:p>
            <a:pPr marL="0" indent="0" algn="ctr">
              <a:buNone/>
            </a:pPr>
            <a:r>
              <a:rPr lang="en-US" sz="1600" dirty="0">
                <a:solidFill>
                  <a:schemeClr val="tx1"/>
                </a:solidFill>
              </a:rPr>
              <a:t>your project's changes</a:t>
            </a:r>
            <a:endParaRPr lang="en-US" sz="1600" dirty="0"/>
          </a:p>
        </p:txBody>
      </p:sp>
      <p:sp>
        <p:nvSpPr>
          <p:cNvPr id="23" name="card"/>
          <p:cNvSpPr/>
          <p:nvPr/>
        </p:nvSpPr>
        <p:spPr>
          <a:xfrm>
            <a:off x="9528048" y="1737360"/>
            <a:ext cx="2011680" cy="329184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24" name="icon circle"/>
          <p:cNvSpPr/>
          <p:nvPr/>
        </p:nvSpPr>
        <p:spPr>
          <a:xfrm>
            <a:off x="10076688" y="2103120"/>
            <a:ext cx="914400" cy="914400"/>
          </a:xfrm>
          <a:prstGeom prst="ellipse">
            <a:avLst/>
          </a:prstGeom>
          <a:solidFill>
            <a:srgbClr val="FFBF00"/>
          </a:solidFill>
          <a:ln w="12700">
            <a:solidFill>
              <a:srgbClr val="FFBF00"/>
            </a:solidFill>
            <a:prstDash val="solid"/>
          </a:ln>
        </p:spPr>
        <p:txBody>
          <a:bodyPr/>
          <a:lstStyle/>
          <a:p>
            <a:endParaRPr lang="en-US"/>
          </a:p>
        </p:txBody>
      </p:sp>
      <p:pic>
        <p:nvPicPr>
          <p:cNvPr id="25" name="icon" descr="preencoded.png"/>
          <p:cNvPicPr>
            <a:picLocks noChangeAspect="1"/>
          </p:cNvPicPr>
          <p:nvPr/>
        </p:nvPicPr>
        <p:blipFill>
          <a:blip r:embed="rId7"/>
          <a:stretch>
            <a:fillRect/>
          </a:stretch>
        </p:blipFill>
        <p:spPr>
          <a:xfrm>
            <a:off x="10305288" y="2331720"/>
            <a:ext cx="457200" cy="457200"/>
          </a:xfrm>
          <a:prstGeom prst="rect">
            <a:avLst/>
          </a:prstGeom>
        </p:spPr>
      </p:pic>
      <p:sp>
        <p:nvSpPr>
          <p:cNvPr id="26" name="Text 19"/>
          <p:cNvSpPr txBox="1"/>
          <p:nvPr/>
        </p:nvSpPr>
        <p:spPr>
          <a:xfrm>
            <a:off x="9665208" y="3246120"/>
            <a:ext cx="1737360" cy="502920"/>
          </a:xfrm>
          <a:prstGeom prst="rect">
            <a:avLst/>
          </a:prstGeom>
          <a:noFill/>
          <a:ln/>
        </p:spPr>
        <p:txBody>
          <a:bodyPr wrap="square" lIns="0" tIns="0" rIns="0" bIns="0" rtlCol="0" anchor="t"/>
          <a:lstStyle/>
          <a:p>
            <a:pPr marL="0" indent="0" algn="ctr">
              <a:buNone/>
            </a:pPr>
            <a:r>
              <a:rPr lang="en-US" sz="2200" b="1" dirty="0">
                <a:solidFill>
                  <a:srgbClr val="022851"/>
                </a:solidFill>
              </a:rPr>
              <a:t>Back up</a:t>
            </a:r>
            <a:endParaRPr lang="en-US" sz="2200" dirty="0"/>
          </a:p>
        </p:txBody>
      </p:sp>
      <p:sp>
        <p:nvSpPr>
          <p:cNvPr id="27" name="Text 20"/>
          <p:cNvSpPr txBox="1"/>
          <p:nvPr/>
        </p:nvSpPr>
        <p:spPr>
          <a:xfrm>
            <a:off x="9665208" y="3794760"/>
            <a:ext cx="1737360" cy="914400"/>
          </a:xfrm>
          <a:prstGeom prst="rect">
            <a:avLst/>
          </a:prstGeom>
          <a:noFill/>
          <a:ln/>
        </p:spPr>
        <p:txBody>
          <a:bodyPr wrap="square" lIns="0" tIns="0" rIns="0" bIns="0" rtlCol="0" anchor="t"/>
          <a:lstStyle/>
          <a:p>
            <a:pPr marL="0" indent="0" algn="ctr">
              <a:buNone/>
            </a:pPr>
            <a:r>
              <a:rPr lang="en-US" sz="1600" dirty="0">
                <a:solidFill>
                  <a:schemeClr val="tx1"/>
                </a:solidFill>
              </a:rPr>
              <a:t>your project</a:t>
            </a:r>
            <a:endParaRPr lang="en-US" sz="1600" dirty="0"/>
          </a:p>
        </p:txBody>
      </p:sp>
      <p:sp>
        <p:nvSpPr>
          <p:cNvPr id="28" name="Text 21"/>
          <p:cNvSpPr txBox="1"/>
          <p:nvPr/>
        </p:nvSpPr>
        <p:spPr>
          <a:xfrm>
            <a:off x="640080" y="5349240"/>
            <a:ext cx="10881360" cy="457200"/>
          </a:xfrm>
          <a:prstGeom prst="rect">
            <a:avLst/>
          </a:prstGeom>
          <a:noFill/>
          <a:ln/>
        </p:spPr>
        <p:txBody>
          <a:bodyPr wrap="square" lIns="0" tIns="0" rIns="0" bIns="0" rtlCol="0" anchor="t"/>
          <a:lstStyle/>
          <a:p>
            <a:pPr marL="0" indent="0">
              <a:buNone/>
            </a:pPr>
            <a:r>
              <a:rPr lang="en-US" sz="1600" i="1" dirty="0">
                <a:solidFill>
                  <a:srgbClr val="5B6770"/>
                </a:solidFill>
              </a:rPr>
              <a:t>The next slides take these one at a time.</a:t>
            </a:r>
            <a:endParaRPr lang="en-US" sz="1600" dirty="0"/>
          </a:p>
        </p:txBody>
      </p:sp>
      <p:sp>
        <p:nvSpPr>
          <p:cNvPr id="29"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Anatomy of a working directory</a:t>
            </a:r>
            <a:endParaRPr lang="en-US" sz="3400" dirty="0"/>
          </a:p>
        </p:txBody>
      </p:sp>
      <p:pic>
        <p:nvPicPr>
          <p:cNvPr id="3" name="folder tree" descr="image6.png"/>
          <p:cNvPicPr>
            <a:picLocks noChangeAspect="1"/>
          </p:cNvPicPr>
          <p:nvPr/>
        </p:nvPicPr>
        <p:blipFill>
          <a:blip r:embed="rId3"/>
          <a:stretch>
            <a:fillRect/>
          </a:stretch>
        </p:blipFill>
        <p:spPr>
          <a:xfrm>
            <a:off x="6355080" y="1371600"/>
            <a:ext cx="5166360" cy="4389120"/>
          </a:xfrm>
          <a:prstGeom prst="rect">
            <a:avLst/>
          </a:prstGeom>
        </p:spPr>
      </p:pic>
      <p:sp>
        <p:nvSpPr>
          <p:cNvPr id="4" name="number"/>
          <p:cNvSpPr/>
          <p:nvPr/>
        </p:nvSpPr>
        <p:spPr>
          <a:xfrm>
            <a:off x="640080" y="1508760"/>
            <a:ext cx="457200" cy="457200"/>
          </a:xfrm>
          <a:prstGeom prst="ellipse">
            <a:avLst/>
          </a:prstGeom>
          <a:solidFill>
            <a:srgbClr val="FFBF00"/>
          </a:solidFill>
          <a:ln w="12700">
            <a:solidFill>
              <a:srgbClr val="FFBF00"/>
            </a:solidFill>
            <a:prstDash val="solid"/>
          </a:ln>
        </p:spPr>
        <p:txBody>
          <a:bodyPr/>
          <a:lstStyle/>
          <a:p>
            <a:endParaRPr lang="en-US"/>
          </a:p>
        </p:txBody>
      </p:sp>
      <p:sp>
        <p:nvSpPr>
          <p:cNvPr id="5" name="Text 2"/>
          <p:cNvSpPr txBox="1"/>
          <p:nvPr/>
        </p:nvSpPr>
        <p:spPr>
          <a:xfrm>
            <a:off x="640080" y="1508760"/>
            <a:ext cx="457200" cy="457200"/>
          </a:xfrm>
          <a:prstGeom prst="rect">
            <a:avLst/>
          </a:prstGeom>
          <a:noFill/>
          <a:ln/>
        </p:spPr>
        <p:txBody>
          <a:bodyPr wrap="square" lIns="0" tIns="0" rIns="0" bIns="0" rtlCol="0" anchor="ctr"/>
          <a:lstStyle/>
          <a:p>
            <a:pPr marL="0" indent="0" algn="ctr">
              <a:buNone/>
            </a:pPr>
            <a:r>
              <a:rPr lang="en-US" sz="1600" b="1" dirty="0">
                <a:solidFill>
                  <a:srgbClr val="022851"/>
                </a:solidFill>
              </a:rPr>
              <a:t>1</a:t>
            </a:r>
            <a:endParaRPr lang="en-US" sz="1600" dirty="0"/>
          </a:p>
        </p:txBody>
      </p:sp>
      <p:sp>
        <p:nvSpPr>
          <p:cNvPr id="6" name="Text 3"/>
          <p:cNvSpPr txBox="1"/>
          <p:nvPr/>
        </p:nvSpPr>
        <p:spPr>
          <a:xfrm>
            <a:off x="1325880" y="1463040"/>
            <a:ext cx="4754880" cy="411480"/>
          </a:xfrm>
          <a:prstGeom prst="rect">
            <a:avLst/>
          </a:prstGeom>
          <a:noFill/>
          <a:ln/>
        </p:spPr>
        <p:txBody>
          <a:bodyPr wrap="square" lIns="0" tIns="0" rIns="0" bIns="0" rtlCol="0" anchor="t"/>
          <a:lstStyle/>
          <a:p>
            <a:pPr marL="0" indent="0">
              <a:buNone/>
            </a:pPr>
            <a:r>
              <a:rPr lang="en-US" sz="1800" b="1" dirty="0">
                <a:solidFill>
                  <a:srgbClr val="022851"/>
                </a:solidFill>
              </a:rPr>
              <a:t>Start every project in its own folder</a:t>
            </a:r>
            <a:endParaRPr lang="en-US" sz="1800" dirty="0"/>
          </a:p>
        </p:txBody>
      </p:sp>
      <p:sp>
        <p:nvSpPr>
          <p:cNvPr id="7" name="Text 4"/>
          <p:cNvSpPr txBox="1"/>
          <p:nvPr/>
        </p:nvSpPr>
        <p:spPr>
          <a:xfrm>
            <a:off x="1325880" y="1874520"/>
            <a:ext cx="4754880" cy="548640"/>
          </a:xfrm>
          <a:prstGeom prst="rect">
            <a:avLst/>
          </a:prstGeom>
          <a:noFill/>
          <a:ln/>
        </p:spPr>
        <p:txBody>
          <a:bodyPr wrap="square" lIns="0" tIns="0" rIns="0" bIns="0" rtlCol="0" anchor="t"/>
          <a:lstStyle/>
          <a:p>
            <a:pPr marL="0" indent="0">
              <a:buNone/>
            </a:pPr>
            <a:r>
              <a:rPr lang="en-US" sz="1500" dirty="0">
                <a:solidFill>
                  <a:schemeClr val="tx1"/>
                </a:solidFill>
              </a:rPr>
              <a:t>In RStudio, an .Rproj file; in Colab, a project folder you create.</a:t>
            </a:r>
            <a:endParaRPr lang="en-US" sz="1500" dirty="0"/>
          </a:p>
        </p:txBody>
      </p:sp>
      <p:sp>
        <p:nvSpPr>
          <p:cNvPr id="8" name="number"/>
          <p:cNvSpPr/>
          <p:nvPr/>
        </p:nvSpPr>
        <p:spPr>
          <a:xfrm>
            <a:off x="640080" y="2587752"/>
            <a:ext cx="457200" cy="457200"/>
          </a:xfrm>
          <a:prstGeom prst="ellipse">
            <a:avLst/>
          </a:prstGeom>
          <a:solidFill>
            <a:srgbClr val="FFBF00"/>
          </a:solidFill>
          <a:ln w="12700">
            <a:solidFill>
              <a:srgbClr val="FFBF00"/>
            </a:solidFill>
            <a:prstDash val="solid"/>
          </a:ln>
        </p:spPr>
        <p:txBody>
          <a:bodyPr/>
          <a:lstStyle/>
          <a:p>
            <a:endParaRPr lang="en-US"/>
          </a:p>
        </p:txBody>
      </p:sp>
      <p:sp>
        <p:nvSpPr>
          <p:cNvPr id="9" name="Text 6"/>
          <p:cNvSpPr txBox="1"/>
          <p:nvPr/>
        </p:nvSpPr>
        <p:spPr>
          <a:xfrm>
            <a:off x="640080" y="2587752"/>
            <a:ext cx="457200" cy="457200"/>
          </a:xfrm>
          <a:prstGeom prst="rect">
            <a:avLst/>
          </a:prstGeom>
          <a:noFill/>
          <a:ln/>
        </p:spPr>
        <p:txBody>
          <a:bodyPr wrap="square" lIns="0" tIns="0" rIns="0" bIns="0" rtlCol="0" anchor="ctr"/>
          <a:lstStyle/>
          <a:p>
            <a:pPr marL="0" indent="0" algn="ctr">
              <a:buNone/>
            </a:pPr>
            <a:r>
              <a:rPr lang="en-US" sz="1600" b="1" dirty="0">
                <a:solidFill>
                  <a:srgbClr val="022851"/>
                </a:solidFill>
              </a:rPr>
              <a:t>2</a:t>
            </a:r>
            <a:endParaRPr lang="en-US" sz="1600" dirty="0"/>
          </a:p>
        </p:txBody>
      </p:sp>
      <p:sp>
        <p:nvSpPr>
          <p:cNvPr id="10" name="Text 7"/>
          <p:cNvSpPr txBox="1"/>
          <p:nvPr/>
        </p:nvSpPr>
        <p:spPr>
          <a:xfrm>
            <a:off x="1325880" y="2542032"/>
            <a:ext cx="4754880" cy="411480"/>
          </a:xfrm>
          <a:prstGeom prst="rect">
            <a:avLst/>
          </a:prstGeom>
          <a:noFill/>
          <a:ln/>
        </p:spPr>
        <p:txBody>
          <a:bodyPr wrap="square" lIns="0" tIns="0" rIns="0" bIns="0" rtlCol="0" anchor="t"/>
          <a:lstStyle/>
          <a:p>
            <a:pPr marL="0" indent="0">
              <a:buNone/>
            </a:pPr>
            <a:r>
              <a:rPr lang="en-US" sz="1800" b="1" dirty="0">
                <a:solidFill>
                  <a:srgbClr val="022851"/>
                </a:solidFill>
              </a:rPr>
              <a:t>Keep raw data immutable</a:t>
            </a:r>
            <a:endParaRPr lang="en-US" sz="1800" dirty="0"/>
          </a:p>
        </p:txBody>
      </p:sp>
      <p:sp>
        <p:nvSpPr>
          <p:cNvPr id="11" name="Text 8"/>
          <p:cNvSpPr txBox="1"/>
          <p:nvPr/>
        </p:nvSpPr>
        <p:spPr>
          <a:xfrm>
            <a:off x="1325880" y="2953512"/>
            <a:ext cx="4754880" cy="548640"/>
          </a:xfrm>
          <a:prstGeom prst="rect">
            <a:avLst/>
          </a:prstGeom>
          <a:noFill/>
          <a:ln/>
        </p:spPr>
        <p:txBody>
          <a:bodyPr wrap="square" lIns="0" tIns="0" rIns="0" bIns="0" rtlCol="0" anchor="t"/>
          <a:lstStyle/>
          <a:p>
            <a:pPr marL="0" indent="0">
              <a:buNone/>
            </a:pPr>
            <a:r>
              <a:rPr lang="en-US" sz="1500" dirty="0">
                <a:solidFill>
                  <a:schemeClr val="tx1"/>
                </a:solidFill>
              </a:rPr>
              <a:t>Never overwrite it. Clean copies go in a separate folder.</a:t>
            </a:r>
            <a:endParaRPr lang="en-US" sz="1500" dirty="0"/>
          </a:p>
        </p:txBody>
      </p:sp>
      <p:sp>
        <p:nvSpPr>
          <p:cNvPr id="12" name="number"/>
          <p:cNvSpPr/>
          <p:nvPr/>
        </p:nvSpPr>
        <p:spPr>
          <a:xfrm>
            <a:off x="640080" y="3666744"/>
            <a:ext cx="457200" cy="457200"/>
          </a:xfrm>
          <a:prstGeom prst="ellipse">
            <a:avLst/>
          </a:prstGeom>
          <a:solidFill>
            <a:srgbClr val="FFBF00"/>
          </a:solidFill>
          <a:ln w="12700">
            <a:solidFill>
              <a:srgbClr val="FFBF00"/>
            </a:solidFill>
            <a:prstDash val="solid"/>
          </a:ln>
        </p:spPr>
        <p:txBody>
          <a:bodyPr/>
          <a:lstStyle/>
          <a:p>
            <a:endParaRPr lang="en-US"/>
          </a:p>
        </p:txBody>
      </p:sp>
      <p:sp>
        <p:nvSpPr>
          <p:cNvPr id="13" name="Text 10"/>
          <p:cNvSpPr txBox="1"/>
          <p:nvPr/>
        </p:nvSpPr>
        <p:spPr>
          <a:xfrm>
            <a:off x="640080" y="3666744"/>
            <a:ext cx="457200" cy="457200"/>
          </a:xfrm>
          <a:prstGeom prst="rect">
            <a:avLst/>
          </a:prstGeom>
          <a:noFill/>
          <a:ln/>
        </p:spPr>
        <p:txBody>
          <a:bodyPr wrap="square" lIns="0" tIns="0" rIns="0" bIns="0" rtlCol="0" anchor="ctr"/>
          <a:lstStyle/>
          <a:p>
            <a:pPr marL="0" indent="0" algn="ctr">
              <a:buNone/>
            </a:pPr>
            <a:r>
              <a:rPr lang="en-US" sz="1600" b="1" dirty="0">
                <a:solidFill>
                  <a:srgbClr val="022851"/>
                </a:solidFill>
              </a:rPr>
              <a:t>3</a:t>
            </a:r>
            <a:endParaRPr lang="en-US" sz="1600" dirty="0"/>
          </a:p>
        </p:txBody>
      </p:sp>
      <p:sp>
        <p:nvSpPr>
          <p:cNvPr id="14" name="Text 11"/>
          <p:cNvSpPr txBox="1"/>
          <p:nvPr/>
        </p:nvSpPr>
        <p:spPr>
          <a:xfrm>
            <a:off x="1325880" y="3621024"/>
            <a:ext cx="4754880" cy="411480"/>
          </a:xfrm>
          <a:prstGeom prst="rect">
            <a:avLst/>
          </a:prstGeom>
          <a:noFill/>
          <a:ln/>
        </p:spPr>
        <p:txBody>
          <a:bodyPr wrap="square" lIns="0" tIns="0" rIns="0" bIns="0" rtlCol="0" anchor="t"/>
          <a:lstStyle/>
          <a:p>
            <a:pPr marL="0" indent="0">
              <a:buNone/>
            </a:pPr>
            <a:r>
              <a:rPr lang="en-US" sz="1800" b="1" dirty="0">
                <a:solidFill>
                  <a:srgbClr val="022851"/>
                </a:solidFill>
              </a:rPr>
              <a:t>Modularize code by task</a:t>
            </a:r>
            <a:endParaRPr lang="en-US" sz="1800" dirty="0"/>
          </a:p>
        </p:txBody>
      </p:sp>
      <p:sp>
        <p:nvSpPr>
          <p:cNvPr id="15" name="Text 12"/>
          <p:cNvSpPr txBox="1"/>
          <p:nvPr/>
        </p:nvSpPr>
        <p:spPr>
          <a:xfrm>
            <a:off x="1325880" y="4032504"/>
            <a:ext cx="4754880" cy="548640"/>
          </a:xfrm>
          <a:prstGeom prst="rect">
            <a:avLst/>
          </a:prstGeom>
          <a:noFill/>
          <a:ln/>
        </p:spPr>
        <p:txBody>
          <a:bodyPr wrap="square" lIns="0" tIns="0" rIns="0" bIns="0" rtlCol="0" anchor="t"/>
          <a:lstStyle/>
          <a:p>
            <a:pPr marL="0" indent="0">
              <a:buNone/>
            </a:pPr>
            <a:r>
              <a:rPr lang="en-US" sz="1500" dirty="0">
                <a:solidFill>
                  <a:schemeClr val="tx1"/>
                </a:solidFill>
              </a:rPr>
              <a:t>One notebook or script per job: cleaning, analysis, figures.</a:t>
            </a:r>
            <a:endParaRPr lang="en-US" sz="1500" dirty="0"/>
          </a:p>
        </p:txBody>
      </p:sp>
      <p:sp>
        <p:nvSpPr>
          <p:cNvPr id="16" name="number"/>
          <p:cNvSpPr/>
          <p:nvPr/>
        </p:nvSpPr>
        <p:spPr>
          <a:xfrm>
            <a:off x="640080" y="4745736"/>
            <a:ext cx="457200" cy="457200"/>
          </a:xfrm>
          <a:prstGeom prst="ellipse">
            <a:avLst/>
          </a:prstGeom>
          <a:solidFill>
            <a:srgbClr val="FFBF00"/>
          </a:solidFill>
          <a:ln w="12700">
            <a:solidFill>
              <a:srgbClr val="FFBF00"/>
            </a:solidFill>
            <a:prstDash val="solid"/>
          </a:ln>
        </p:spPr>
        <p:txBody>
          <a:bodyPr/>
          <a:lstStyle/>
          <a:p>
            <a:endParaRPr lang="en-US"/>
          </a:p>
        </p:txBody>
      </p:sp>
      <p:sp>
        <p:nvSpPr>
          <p:cNvPr id="17" name="Text 14"/>
          <p:cNvSpPr txBox="1"/>
          <p:nvPr/>
        </p:nvSpPr>
        <p:spPr>
          <a:xfrm>
            <a:off x="640080" y="4745736"/>
            <a:ext cx="457200" cy="457200"/>
          </a:xfrm>
          <a:prstGeom prst="rect">
            <a:avLst/>
          </a:prstGeom>
          <a:noFill/>
          <a:ln/>
        </p:spPr>
        <p:txBody>
          <a:bodyPr wrap="square" lIns="0" tIns="0" rIns="0" bIns="0" rtlCol="0" anchor="ctr"/>
          <a:lstStyle/>
          <a:p>
            <a:pPr marL="0" indent="0" algn="ctr">
              <a:buNone/>
            </a:pPr>
            <a:r>
              <a:rPr lang="en-US" sz="1600" b="1" dirty="0">
                <a:solidFill>
                  <a:srgbClr val="022851"/>
                </a:solidFill>
              </a:rPr>
              <a:t>4</a:t>
            </a:r>
            <a:endParaRPr lang="en-US" sz="1600" dirty="0"/>
          </a:p>
        </p:txBody>
      </p:sp>
      <p:sp>
        <p:nvSpPr>
          <p:cNvPr id="18" name="Text 15"/>
          <p:cNvSpPr txBox="1"/>
          <p:nvPr/>
        </p:nvSpPr>
        <p:spPr>
          <a:xfrm>
            <a:off x="1325880" y="4700016"/>
            <a:ext cx="4754880" cy="411480"/>
          </a:xfrm>
          <a:prstGeom prst="rect">
            <a:avLst/>
          </a:prstGeom>
          <a:noFill/>
          <a:ln/>
        </p:spPr>
        <p:txBody>
          <a:bodyPr wrap="square" lIns="0" tIns="0" rIns="0" bIns="0" rtlCol="0" anchor="t"/>
          <a:lstStyle/>
          <a:p>
            <a:pPr marL="0" indent="0">
              <a:buNone/>
            </a:pPr>
            <a:r>
              <a:rPr lang="en-US" sz="1800" b="1" dirty="0">
                <a:solidFill>
                  <a:srgbClr val="022851"/>
                </a:solidFill>
              </a:rPr>
              <a:t>Store outputs separately</a:t>
            </a:r>
            <a:endParaRPr lang="en-US" sz="1800" dirty="0"/>
          </a:p>
        </p:txBody>
      </p:sp>
      <p:sp>
        <p:nvSpPr>
          <p:cNvPr id="19" name="Text 16"/>
          <p:cNvSpPr txBox="1"/>
          <p:nvPr/>
        </p:nvSpPr>
        <p:spPr>
          <a:xfrm>
            <a:off x="1325880" y="5111496"/>
            <a:ext cx="4754880" cy="548640"/>
          </a:xfrm>
          <a:prstGeom prst="rect">
            <a:avLst/>
          </a:prstGeom>
          <a:noFill/>
          <a:ln/>
        </p:spPr>
        <p:txBody>
          <a:bodyPr wrap="square" lIns="0" tIns="0" rIns="0" bIns="0" rtlCol="0" anchor="t"/>
          <a:lstStyle/>
          <a:p>
            <a:pPr marL="0" indent="0">
              <a:buNone/>
            </a:pPr>
            <a:r>
              <a:rPr lang="en-US" sz="1500" dirty="0">
                <a:solidFill>
                  <a:schemeClr val="tx1"/>
                </a:solidFill>
              </a:rPr>
              <a:t>Plots and summaries go in outputs/, never next to raw data.</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Naming files</a:t>
            </a:r>
            <a:endParaRPr lang="en-US" sz="3400" dirty="0"/>
          </a:p>
        </p:txBody>
      </p:sp>
      <p:sp>
        <p:nvSpPr>
          <p:cNvPr id="3" name="card"/>
          <p:cNvSpPr/>
          <p:nvPr/>
        </p:nvSpPr>
        <p:spPr>
          <a:xfrm>
            <a:off x="640080" y="1554480"/>
            <a:ext cx="3429000" cy="1600200"/>
          </a:xfrm>
          <a:prstGeom prst="roundRect">
            <a:avLst>
              <a:gd name="adj" fmla="val 6857"/>
            </a:avLst>
          </a:prstGeom>
          <a:solidFill>
            <a:srgbClr val="E6EAEE"/>
          </a:solidFill>
          <a:ln w="12700">
            <a:solidFill>
              <a:srgbClr val="E6EAEE"/>
            </a:solidFill>
            <a:prstDash val="solid"/>
          </a:ln>
        </p:spPr>
        <p:txBody>
          <a:bodyPr/>
          <a:lstStyle/>
          <a:p>
            <a:endParaRPr lang="en-US"/>
          </a:p>
        </p:txBody>
      </p:sp>
      <p:sp>
        <p:nvSpPr>
          <p:cNvPr id="4" name="Text 2"/>
          <p:cNvSpPr txBox="1"/>
          <p:nvPr/>
        </p:nvSpPr>
        <p:spPr>
          <a:xfrm>
            <a:off x="914400" y="1737360"/>
            <a:ext cx="2926080" cy="457200"/>
          </a:xfrm>
          <a:prstGeom prst="rect">
            <a:avLst/>
          </a:prstGeom>
          <a:noFill/>
          <a:ln/>
        </p:spPr>
        <p:txBody>
          <a:bodyPr wrap="square" lIns="0" tIns="0" rIns="0" bIns="0" rtlCol="0" anchor="t"/>
          <a:lstStyle/>
          <a:p>
            <a:pPr marL="0" indent="0">
              <a:buNone/>
            </a:pPr>
            <a:r>
              <a:rPr lang="en-US" sz="2000" b="1" dirty="0">
                <a:solidFill>
                  <a:srgbClr val="022851"/>
                </a:solidFill>
              </a:rPr>
              <a:t>No spaces</a:t>
            </a:r>
            <a:endParaRPr lang="en-US" sz="2000" dirty="0"/>
          </a:p>
        </p:txBody>
      </p:sp>
      <p:sp>
        <p:nvSpPr>
          <p:cNvPr id="5" name="Text 3"/>
          <p:cNvSpPr txBox="1"/>
          <p:nvPr/>
        </p:nvSpPr>
        <p:spPr>
          <a:xfrm>
            <a:off x="914400" y="2286000"/>
            <a:ext cx="2926080" cy="731520"/>
          </a:xfrm>
          <a:prstGeom prst="rect">
            <a:avLst/>
          </a:prstGeom>
          <a:noFill/>
          <a:ln/>
        </p:spPr>
        <p:txBody>
          <a:bodyPr wrap="square" lIns="0" tIns="0" rIns="0" bIns="0" rtlCol="0" anchor="t"/>
          <a:lstStyle/>
          <a:p>
            <a:pPr marL="0" indent="0">
              <a:buNone/>
            </a:pPr>
            <a:r>
              <a:rPr lang="en-US" sz="1600" dirty="0">
                <a:solidFill>
                  <a:schemeClr val="tx1"/>
                </a:solidFill>
              </a:rPr>
              <a:t>Use snake_case or kebab-case</a:t>
            </a:r>
            <a:endParaRPr lang="en-US" sz="1600" dirty="0"/>
          </a:p>
        </p:txBody>
      </p:sp>
      <p:sp>
        <p:nvSpPr>
          <p:cNvPr id="6" name="card"/>
          <p:cNvSpPr/>
          <p:nvPr/>
        </p:nvSpPr>
        <p:spPr>
          <a:xfrm>
            <a:off x="4343400" y="1554480"/>
            <a:ext cx="3429000" cy="1600200"/>
          </a:xfrm>
          <a:prstGeom prst="roundRect">
            <a:avLst>
              <a:gd name="adj" fmla="val 6857"/>
            </a:avLst>
          </a:prstGeom>
          <a:solidFill>
            <a:srgbClr val="E6EAEE"/>
          </a:solidFill>
          <a:ln w="12700">
            <a:solidFill>
              <a:srgbClr val="E6EAEE"/>
            </a:solidFill>
            <a:prstDash val="solid"/>
          </a:ln>
        </p:spPr>
        <p:txBody>
          <a:bodyPr/>
          <a:lstStyle/>
          <a:p>
            <a:endParaRPr lang="en-US"/>
          </a:p>
        </p:txBody>
      </p:sp>
      <p:sp>
        <p:nvSpPr>
          <p:cNvPr id="7" name="Text 5"/>
          <p:cNvSpPr txBox="1"/>
          <p:nvPr/>
        </p:nvSpPr>
        <p:spPr>
          <a:xfrm>
            <a:off x="4617720" y="1737360"/>
            <a:ext cx="2926080" cy="457200"/>
          </a:xfrm>
          <a:prstGeom prst="rect">
            <a:avLst/>
          </a:prstGeom>
          <a:noFill/>
          <a:ln/>
        </p:spPr>
        <p:txBody>
          <a:bodyPr wrap="square" lIns="0" tIns="0" rIns="0" bIns="0" rtlCol="0" anchor="t"/>
          <a:lstStyle/>
          <a:p>
            <a:pPr marL="0" indent="0">
              <a:buNone/>
            </a:pPr>
            <a:r>
              <a:rPr lang="en-US" sz="2000" b="1" dirty="0">
                <a:solidFill>
                  <a:srgbClr val="022851"/>
                </a:solidFill>
              </a:rPr>
              <a:t>Order with prefixes</a:t>
            </a:r>
            <a:endParaRPr lang="en-US" sz="2000" dirty="0"/>
          </a:p>
        </p:txBody>
      </p:sp>
      <p:sp>
        <p:nvSpPr>
          <p:cNvPr id="8" name="Text 6"/>
          <p:cNvSpPr txBox="1"/>
          <p:nvPr/>
        </p:nvSpPr>
        <p:spPr>
          <a:xfrm>
            <a:off x="4617720" y="2286000"/>
            <a:ext cx="2926080" cy="731520"/>
          </a:xfrm>
          <a:prstGeom prst="rect">
            <a:avLst/>
          </a:prstGeom>
          <a:noFill/>
          <a:ln/>
        </p:spPr>
        <p:txBody>
          <a:bodyPr wrap="square" lIns="0" tIns="0" rIns="0" bIns="0" rtlCol="0" anchor="t"/>
          <a:lstStyle/>
          <a:p>
            <a:pPr marL="0" indent="0">
              <a:buNone/>
            </a:pPr>
            <a:r>
              <a:rPr lang="en-US" sz="1600" dirty="0">
                <a:solidFill>
                  <a:schemeClr val="tx1"/>
                </a:solidFill>
              </a:rPr>
              <a:t>01_, 02_, 03_ for sequential steps</a:t>
            </a:r>
            <a:endParaRPr lang="en-US" sz="1600" dirty="0"/>
          </a:p>
        </p:txBody>
      </p:sp>
      <p:sp>
        <p:nvSpPr>
          <p:cNvPr id="9" name="card"/>
          <p:cNvSpPr/>
          <p:nvPr/>
        </p:nvSpPr>
        <p:spPr>
          <a:xfrm>
            <a:off x="8046720" y="1554480"/>
            <a:ext cx="3429000" cy="1600200"/>
          </a:xfrm>
          <a:prstGeom prst="roundRect">
            <a:avLst>
              <a:gd name="adj" fmla="val 6857"/>
            </a:avLst>
          </a:prstGeom>
          <a:solidFill>
            <a:srgbClr val="E6EAEE"/>
          </a:solidFill>
          <a:ln w="12700">
            <a:solidFill>
              <a:srgbClr val="E6EAEE"/>
            </a:solidFill>
            <a:prstDash val="solid"/>
          </a:ln>
        </p:spPr>
        <p:txBody>
          <a:bodyPr/>
          <a:lstStyle/>
          <a:p>
            <a:endParaRPr lang="en-US"/>
          </a:p>
        </p:txBody>
      </p:sp>
      <p:sp>
        <p:nvSpPr>
          <p:cNvPr id="10" name="Text 8"/>
          <p:cNvSpPr txBox="1"/>
          <p:nvPr/>
        </p:nvSpPr>
        <p:spPr>
          <a:xfrm>
            <a:off x="8321040" y="1737360"/>
            <a:ext cx="2926080" cy="457200"/>
          </a:xfrm>
          <a:prstGeom prst="rect">
            <a:avLst/>
          </a:prstGeom>
          <a:noFill/>
          <a:ln/>
        </p:spPr>
        <p:txBody>
          <a:bodyPr wrap="square" lIns="0" tIns="0" rIns="0" bIns="0" rtlCol="0" anchor="t"/>
          <a:lstStyle/>
          <a:p>
            <a:pPr marL="0" indent="0">
              <a:buNone/>
            </a:pPr>
            <a:r>
              <a:rPr lang="en-US" sz="2000" b="1" dirty="0">
                <a:solidFill>
                  <a:srgbClr val="022851"/>
                </a:solidFill>
              </a:rPr>
              <a:t>Date or version it</a:t>
            </a:r>
            <a:endParaRPr lang="en-US" sz="2000" dirty="0"/>
          </a:p>
        </p:txBody>
      </p:sp>
      <p:sp>
        <p:nvSpPr>
          <p:cNvPr id="11" name="Text 9"/>
          <p:cNvSpPr txBox="1"/>
          <p:nvPr/>
        </p:nvSpPr>
        <p:spPr>
          <a:xfrm>
            <a:off x="8321040" y="2286000"/>
            <a:ext cx="2926080" cy="731520"/>
          </a:xfrm>
          <a:prstGeom prst="rect">
            <a:avLst/>
          </a:prstGeom>
          <a:noFill/>
          <a:ln/>
        </p:spPr>
        <p:txBody>
          <a:bodyPr wrap="square" lIns="0" tIns="0" rIns="0" bIns="0" rtlCol="0" anchor="t"/>
          <a:lstStyle/>
          <a:p>
            <a:pPr marL="0" indent="0">
              <a:buNone/>
            </a:pPr>
            <a:r>
              <a:rPr lang="en-US" sz="1600" dirty="0">
                <a:solidFill>
                  <a:schemeClr val="tx1"/>
                </a:solidFill>
              </a:rPr>
              <a:t>YYYYMMDD sorts correctly; or v1.0</a:t>
            </a:r>
            <a:endParaRPr lang="en-US" sz="1600" dirty="0"/>
          </a:p>
        </p:txBody>
      </p:sp>
      <p:sp>
        <p:nvSpPr>
          <p:cNvPr id="12" name="Text 10"/>
          <p:cNvSpPr txBox="1"/>
          <p:nvPr/>
        </p:nvSpPr>
        <p:spPr>
          <a:xfrm>
            <a:off x="640080" y="3520440"/>
            <a:ext cx="3657600" cy="411480"/>
          </a:xfrm>
          <a:prstGeom prst="rect">
            <a:avLst/>
          </a:prstGeom>
          <a:noFill/>
          <a:ln/>
        </p:spPr>
        <p:txBody>
          <a:bodyPr wrap="square" lIns="0" tIns="0" rIns="0" bIns="0" rtlCol="0" anchor="t"/>
          <a:lstStyle/>
          <a:p>
            <a:pPr marL="0" indent="0">
              <a:buNone/>
            </a:pPr>
            <a:r>
              <a:rPr lang="en-US" sz="1800" b="1" dirty="0">
                <a:solidFill>
                  <a:srgbClr val="022851"/>
                </a:solidFill>
              </a:rPr>
              <a:t>Examples</a:t>
            </a:r>
            <a:endParaRPr lang="en-US" sz="1800" dirty="0"/>
          </a:p>
        </p:txBody>
      </p:sp>
      <p:sp>
        <p:nvSpPr>
          <p:cNvPr id="13" name="code chip"/>
          <p:cNvSpPr/>
          <p:nvPr/>
        </p:nvSpPr>
        <p:spPr>
          <a:xfrm>
            <a:off x="640080" y="4023360"/>
            <a:ext cx="6035040" cy="530352"/>
          </a:xfrm>
          <a:prstGeom prst="roundRect">
            <a:avLst>
              <a:gd name="adj" fmla="val 13793"/>
            </a:avLst>
          </a:prstGeom>
          <a:solidFill>
            <a:srgbClr val="1C2733"/>
          </a:solidFill>
          <a:ln w="12700">
            <a:solidFill>
              <a:srgbClr val="1C2733"/>
            </a:solidFill>
            <a:prstDash val="solid"/>
          </a:ln>
        </p:spPr>
        <p:txBody>
          <a:bodyPr/>
          <a:lstStyle/>
          <a:p>
            <a:endParaRPr lang="en-US"/>
          </a:p>
        </p:txBody>
      </p:sp>
      <p:sp>
        <p:nvSpPr>
          <p:cNvPr id="14" name="Text 12"/>
          <p:cNvSpPr txBox="1"/>
          <p:nvPr/>
        </p:nvSpPr>
        <p:spPr>
          <a:xfrm>
            <a:off x="868680" y="4023360"/>
            <a:ext cx="5669280" cy="530352"/>
          </a:xfrm>
          <a:prstGeom prst="rect">
            <a:avLst/>
          </a:prstGeom>
          <a:noFill/>
          <a:ln/>
        </p:spPr>
        <p:txBody>
          <a:bodyPr wrap="square" lIns="0" tIns="0" rIns="0" bIns="0" rtlCol="0" anchor="ctr"/>
          <a:lstStyle/>
          <a:p>
            <a:pPr marL="0" indent="0">
              <a:buNone/>
            </a:pPr>
            <a:r>
              <a:rPr lang="en-US" sz="1600" dirty="0">
                <a:solidFill>
                  <a:srgbClr val="FFFFFF"/>
                </a:solidFill>
                <a:latin typeface="Courier New" pitchFamily="34" charset="0"/>
                <a:ea typeface="Courier New" pitchFamily="34" charset="-122"/>
                <a:cs typeface="Courier New" pitchFamily="34" charset="-120"/>
              </a:rPr>
              <a:t>20251020_west_nile_cleaning.R</a:t>
            </a:r>
            <a:endParaRPr lang="en-US" sz="1600" dirty="0"/>
          </a:p>
        </p:txBody>
      </p:sp>
      <p:sp>
        <p:nvSpPr>
          <p:cNvPr id="15" name="Text 13"/>
          <p:cNvSpPr txBox="1"/>
          <p:nvPr/>
        </p:nvSpPr>
        <p:spPr>
          <a:xfrm>
            <a:off x="6858000" y="4023360"/>
            <a:ext cx="457200" cy="530352"/>
          </a:xfrm>
          <a:prstGeom prst="rect">
            <a:avLst/>
          </a:prstGeom>
          <a:noFill/>
          <a:ln/>
        </p:spPr>
        <p:txBody>
          <a:bodyPr wrap="square" lIns="0" tIns="0" rIns="0" bIns="0" rtlCol="0" anchor="ctr"/>
          <a:lstStyle/>
          <a:p>
            <a:pPr marL="0" indent="0">
              <a:buNone/>
            </a:pPr>
            <a:r>
              <a:rPr lang="en-US" sz="2200" b="1" dirty="0">
                <a:solidFill>
                  <a:srgbClr val="2E7D32"/>
                </a:solidFill>
              </a:rPr>
              <a:t>✓</a:t>
            </a:r>
            <a:endParaRPr lang="en-US" sz="2200" dirty="0"/>
          </a:p>
        </p:txBody>
      </p:sp>
      <p:sp>
        <p:nvSpPr>
          <p:cNvPr id="16" name="code chip"/>
          <p:cNvSpPr/>
          <p:nvPr/>
        </p:nvSpPr>
        <p:spPr>
          <a:xfrm>
            <a:off x="640080" y="4681728"/>
            <a:ext cx="6035040" cy="530352"/>
          </a:xfrm>
          <a:prstGeom prst="roundRect">
            <a:avLst>
              <a:gd name="adj" fmla="val 13793"/>
            </a:avLst>
          </a:prstGeom>
          <a:solidFill>
            <a:srgbClr val="1C2733"/>
          </a:solidFill>
          <a:ln w="12700">
            <a:solidFill>
              <a:srgbClr val="1C2733"/>
            </a:solidFill>
            <a:prstDash val="solid"/>
          </a:ln>
        </p:spPr>
        <p:txBody>
          <a:bodyPr/>
          <a:lstStyle/>
          <a:p>
            <a:endParaRPr lang="en-US"/>
          </a:p>
        </p:txBody>
      </p:sp>
      <p:sp>
        <p:nvSpPr>
          <p:cNvPr id="17" name="Text 15"/>
          <p:cNvSpPr txBox="1"/>
          <p:nvPr/>
        </p:nvSpPr>
        <p:spPr>
          <a:xfrm>
            <a:off x="868680" y="4681728"/>
            <a:ext cx="5669280" cy="530352"/>
          </a:xfrm>
          <a:prstGeom prst="rect">
            <a:avLst/>
          </a:prstGeom>
          <a:noFill/>
          <a:ln/>
        </p:spPr>
        <p:txBody>
          <a:bodyPr wrap="square" lIns="0" tIns="0" rIns="0" bIns="0" rtlCol="0" anchor="ctr"/>
          <a:lstStyle/>
          <a:p>
            <a:pPr marL="0" indent="0">
              <a:buNone/>
            </a:pPr>
            <a:r>
              <a:rPr lang="en-US" sz="1600" dirty="0">
                <a:solidFill>
                  <a:srgbClr val="FFFFFF"/>
                </a:solidFill>
                <a:latin typeface="Courier New" pitchFamily="34" charset="0"/>
                <a:ea typeface="Courier New" pitchFamily="34" charset="-122"/>
                <a:cs typeface="Courier New" pitchFamily="34" charset="-120"/>
              </a:rPr>
              <a:t>bird_migration_2024_raw.csv</a:t>
            </a:r>
            <a:endParaRPr lang="en-US" sz="1600" dirty="0"/>
          </a:p>
        </p:txBody>
      </p:sp>
      <p:sp>
        <p:nvSpPr>
          <p:cNvPr id="18" name="Text 16"/>
          <p:cNvSpPr txBox="1"/>
          <p:nvPr/>
        </p:nvSpPr>
        <p:spPr>
          <a:xfrm>
            <a:off x="6858000" y="4681728"/>
            <a:ext cx="457200" cy="530352"/>
          </a:xfrm>
          <a:prstGeom prst="rect">
            <a:avLst/>
          </a:prstGeom>
          <a:noFill/>
          <a:ln/>
        </p:spPr>
        <p:txBody>
          <a:bodyPr wrap="square" lIns="0" tIns="0" rIns="0" bIns="0" rtlCol="0" anchor="ctr"/>
          <a:lstStyle/>
          <a:p>
            <a:pPr marL="0" indent="0">
              <a:buNone/>
            </a:pPr>
            <a:r>
              <a:rPr lang="en-US" sz="2200" b="1" dirty="0">
                <a:solidFill>
                  <a:srgbClr val="2E7D32"/>
                </a:solidFill>
              </a:rPr>
              <a:t>✓</a:t>
            </a:r>
            <a:endParaRPr lang="en-US" sz="2200" dirty="0"/>
          </a:p>
        </p:txBody>
      </p:sp>
      <p:sp>
        <p:nvSpPr>
          <p:cNvPr id="19" name="code chip"/>
          <p:cNvSpPr/>
          <p:nvPr/>
        </p:nvSpPr>
        <p:spPr>
          <a:xfrm>
            <a:off x="640080" y="5340096"/>
            <a:ext cx="6035040" cy="530352"/>
          </a:xfrm>
          <a:prstGeom prst="roundRect">
            <a:avLst>
              <a:gd name="adj" fmla="val 13793"/>
            </a:avLst>
          </a:prstGeom>
          <a:solidFill>
            <a:srgbClr val="F3F4F6"/>
          </a:solidFill>
          <a:ln w="12700">
            <a:solidFill>
              <a:srgbClr val="D1D5DB"/>
            </a:solidFill>
            <a:prstDash val="solid"/>
          </a:ln>
        </p:spPr>
        <p:txBody>
          <a:bodyPr/>
          <a:lstStyle/>
          <a:p>
            <a:endParaRPr lang="en-US"/>
          </a:p>
        </p:txBody>
      </p:sp>
      <p:sp>
        <p:nvSpPr>
          <p:cNvPr id="20" name="Text 18"/>
          <p:cNvSpPr txBox="1"/>
          <p:nvPr/>
        </p:nvSpPr>
        <p:spPr>
          <a:xfrm>
            <a:off x="868680" y="5340096"/>
            <a:ext cx="5669280" cy="530352"/>
          </a:xfrm>
          <a:prstGeom prst="rect">
            <a:avLst/>
          </a:prstGeom>
          <a:noFill/>
          <a:ln/>
        </p:spPr>
        <p:txBody>
          <a:bodyPr wrap="square" lIns="0" tIns="0" rIns="0" bIns="0" rtlCol="0" anchor="ctr"/>
          <a:lstStyle/>
          <a:p>
            <a:pPr marL="0" indent="0">
              <a:buNone/>
            </a:pPr>
            <a:r>
              <a:rPr lang="en-US" sz="1600" dirty="0">
                <a:solidFill>
                  <a:srgbClr val="5B6770"/>
                </a:solidFill>
                <a:latin typeface="Courier New" pitchFamily="34" charset="0"/>
                <a:ea typeface="Courier New" pitchFamily="34" charset="-122"/>
                <a:cs typeface="Courier New" pitchFamily="34" charset="-120"/>
              </a:rPr>
              <a:t>Final data (2) NEW.xlsx</a:t>
            </a:r>
            <a:endParaRPr lang="en-US" sz="1600" dirty="0"/>
          </a:p>
        </p:txBody>
      </p:sp>
      <p:sp>
        <p:nvSpPr>
          <p:cNvPr id="21" name="Text 19"/>
          <p:cNvSpPr txBox="1"/>
          <p:nvPr/>
        </p:nvSpPr>
        <p:spPr>
          <a:xfrm>
            <a:off x="6858000" y="5340096"/>
            <a:ext cx="457200" cy="530352"/>
          </a:xfrm>
          <a:prstGeom prst="rect">
            <a:avLst/>
          </a:prstGeom>
          <a:noFill/>
          <a:ln/>
        </p:spPr>
        <p:txBody>
          <a:bodyPr wrap="square" lIns="0" tIns="0" rIns="0" bIns="0" rtlCol="0" anchor="ctr"/>
          <a:lstStyle/>
          <a:p>
            <a:pPr marL="0" indent="0">
              <a:buNone/>
            </a:pPr>
            <a:r>
              <a:rPr lang="en-US" sz="2200" b="1" dirty="0">
                <a:solidFill>
                  <a:srgbClr val="B3261E"/>
                </a:solidFill>
              </a:rPr>
              <a:t>✗</a:t>
            </a:r>
            <a:endParaRPr lang="en-US" sz="2200" dirty="0"/>
          </a:p>
        </p:txBody>
      </p:sp>
      <p:sp>
        <p:nvSpPr>
          <p:cNvPr id="22" name="card"/>
          <p:cNvSpPr/>
          <p:nvPr/>
        </p:nvSpPr>
        <p:spPr>
          <a:xfrm>
            <a:off x="7680960" y="3520440"/>
            <a:ext cx="3840480" cy="2377440"/>
          </a:xfrm>
          <a:prstGeom prst="roundRect">
            <a:avLst>
              <a:gd name="adj" fmla="val 4615"/>
            </a:avLst>
          </a:prstGeom>
          <a:solidFill>
            <a:srgbClr val="FFF2CC"/>
          </a:solidFill>
          <a:ln w="12700">
            <a:solidFill>
              <a:srgbClr val="FFF2CC"/>
            </a:solidFill>
            <a:prstDash val="solid"/>
          </a:ln>
        </p:spPr>
        <p:txBody>
          <a:bodyPr/>
          <a:lstStyle/>
          <a:p>
            <a:endParaRPr lang="en-US"/>
          </a:p>
        </p:txBody>
      </p:sp>
      <p:sp>
        <p:nvSpPr>
          <p:cNvPr id="23" name="Text 21"/>
          <p:cNvSpPr txBox="1"/>
          <p:nvPr/>
        </p:nvSpPr>
        <p:spPr>
          <a:xfrm>
            <a:off x="7955280" y="3703320"/>
            <a:ext cx="3383280" cy="2057400"/>
          </a:xfrm>
          <a:prstGeom prst="rect">
            <a:avLst/>
          </a:prstGeom>
          <a:noFill/>
          <a:ln/>
        </p:spPr>
        <p:txBody>
          <a:bodyPr wrap="square" lIns="0" tIns="0" rIns="0" bIns="0" rtlCol="0" anchor="t"/>
          <a:lstStyle/>
          <a:p>
            <a:pPr marL="0" indent="0">
              <a:buNone/>
            </a:pPr>
            <a:r>
              <a:rPr lang="en-US" sz="1600" b="1" dirty="0">
                <a:solidFill>
                  <a:srgbClr val="022851"/>
                </a:solidFill>
              </a:rPr>
              <a:t>Why bother?</a:t>
            </a:r>
            <a:endParaRPr lang="en-US" sz="1600" dirty="0"/>
          </a:p>
          <a:p>
            <a:pPr marL="0" indent="0">
              <a:buNone/>
            </a:pPr>
            <a:r>
              <a:rPr lang="en-US" sz="1600" dirty="0">
                <a:solidFill>
                  <a:schemeClr val="tx1"/>
                </a:solidFill>
              </a:rPr>
              <a:t>Files sort themselves in order, computers can read them, and you can tell what each one is in 6 months.</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Naming objects in R</a:t>
            </a:r>
            <a:endParaRPr lang="en-US" sz="3400" dirty="0"/>
          </a:p>
        </p:txBody>
      </p:sp>
      <p:sp>
        <p:nvSpPr>
          <p:cNvPr id="3" name="Text 1"/>
          <p:cNvSpPr txBox="1"/>
          <p:nvPr/>
        </p:nvSpPr>
        <p:spPr>
          <a:xfrm>
            <a:off x="640080" y="1508760"/>
            <a:ext cx="5486400" cy="457200"/>
          </a:xfrm>
          <a:prstGeom prst="rect">
            <a:avLst/>
          </a:prstGeom>
          <a:noFill/>
          <a:ln/>
        </p:spPr>
        <p:txBody>
          <a:bodyPr wrap="square" lIns="0" tIns="0" rIns="0" bIns="0" rtlCol="0" anchor="t"/>
          <a:lstStyle/>
          <a:p>
            <a:pPr marL="0" indent="0">
              <a:buNone/>
            </a:pPr>
            <a:r>
              <a:rPr lang="en-US" sz="2000" b="1" dirty="0">
                <a:solidFill>
                  <a:srgbClr val="022851"/>
                </a:solidFill>
              </a:rPr>
              <a:t>Pick one style and stick to it</a:t>
            </a:r>
            <a:endParaRPr lang="en-US" sz="2000" dirty="0"/>
          </a:p>
        </p:txBody>
      </p:sp>
      <p:sp>
        <p:nvSpPr>
          <p:cNvPr id="4" name="Text 2"/>
          <p:cNvSpPr txBox="1"/>
          <p:nvPr/>
        </p:nvSpPr>
        <p:spPr>
          <a:xfrm>
            <a:off x="640080" y="2103120"/>
            <a:ext cx="1828800" cy="548640"/>
          </a:xfrm>
          <a:prstGeom prst="rect">
            <a:avLst/>
          </a:prstGeom>
          <a:noFill/>
          <a:ln/>
        </p:spPr>
        <p:txBody>
          <a:bodyPr wrap="square" lIns="0" tIns="0" rIns="0" bIns="0" rtlCol="0" anchor="ctr"/>
          <a:lstStyle/>
          <a:p>
            <a:pPr marL="0" indent="0">
              <a:buNone/>
            </a:pPr>
            <a:r>
              <a:rPr lang="en-US" sz="1700" b="1" dirty="0">
                <a:solidFill>
                  <a:schemeClr val="tx1"/>
                </a:solidFill>
              </a:rPr>
              <a:t>camelCase</a:t>
            </a:r>
            <a:endParaRPr lang="en-US" sz="1700" dirty="0"/>
          </a:p>
        </p:txBody>
      </p:sp>
      <p:sp>
        <p:nvSpPr>
          <p:cNvPr id="5" name="code chip"/>
          <p:cNvSpPr/>
          <p:nvPr/>
        </p:nvSpPr>
        <p:spPr>
          <a:xfrm>
            <a:off x="2560320" y="2103120"/>
            <a:ext cx="3291840" cy="548640"/>
          </a:xfrm>
          <a:prstGeom prst="roundRect">
            <a:avLst>
              <a:gd name="adj" fmla="val 13333"/>
            </a:avLst>
          </a:prstGeom>
          <a:solidFill>
            <a:srgbClr val="1C2733"/>
          </a:solidFill>
          <a:ln w="12700">
            <a:solidFill>
              <a:srgbClr val="1C2733"/>
            </a:solidFill>
            <a:prstDash val="solid"/>
          </a:ln>
        </p:spPr>
        <p:txBody>
          <a:bodyPr/>
          <a:lstStyle/>
          <a:p>
            <a:endParaRPr lang="en-US"/>
          </a:p>
        </p:txBody>
      </p:sp>
      <p:sp>
        <p:nvSpPr>
          <p:cNvPr id="6" name="Text 4"/>
          <p:cNvSpPr txBox="1"/>
          <p:nvPr/>
        </p:nvSpPr>
        <p:spPr>
          <a:xfrm>
            <a:off x="2788920" y="2103120"/>
            <a:ext cx="2926080" cy="548640"/>
          </a:xfrm>
          <a:prstGeom prst="rect">
            <a:avLst/>
          </a:prstGeom>
          <a:noFill/>
          <a:ln/>
        </p:spPr>
        <p:txBody>
          <a:bodyPr wrap="square" lIns="0" tIns="0" rIns="0" bIns="0" rtlCol="0" anchor="ctr"/>
          <a:lstStyle/>
          <a:p>
            <a:pPr marL="0" indent="0">
              <a:buNone/>
            </a:pPr>
            <a:r>
              <a:rPr lang="en-US" sz="1600" dirty="0">
                <a:solidFill>
                  <a:srgbClr val="FFFFFF"/>
                </a:solidFill>
                <a:latin typeface="Courier New" pitchFamily="34" charset="0"/>
                <a:ea typeface="Courier New" pitchFamily="34" charset="-122"/>
                <a:cs typeface="Courier New" pitchFamily="34" charset="-120"/>
              </a:rPr>
              <a:t>totalCases</a:t>
            </a:r>
            <a:endParaRPr lang="en-US" sz="1600" dirty="0"/>
          </a:p>
        </p:txBody>
      </p:sp>
      <p:sp>
        <p:nvSpPr>
          <p:cNvPr id="7" name="Text 5"/>
          <p:cNvSpPr txBox="1"/>
          <p:nvPr/>
        </p:nvSpPr>
        <p:spPr>
          <a:xfrm>
            <a:off x="640080" y="2834640"/>
            <a:ext cx="1828800" cy="548640"/>
          </a:xfrm>
          <a:prstGeom prst="rect">
            <a:avLst/>
          </a:prstGeom>
          <a:noFill/>
          <a:ln/>
        </p:spPr>
        <p:txBody>
          <a:bodyPr wrap="square" lIns="0" tIns="0" rIns="0" bIns="0" rtlCol="0" anchor="ctr"/>
          <a:lstStyle/>
          <a:p>
            <a:pPr marL="0" indent="0">
              <a:buNone/>
            </a:pPr>
            <a:r>
              <a:rPr lang="en-US" sz="1700" b="1" dirty="0">
                <a:solidFill>
                  <a:schemeClr val="tx1"/>
                </a:solidFill>
              </a:rPr>
              <a:t>snake_case</a:t>
            </a:r>
            <a:endParaRPr lang="en-US" sz="1700" dirty="0"/>
          </a:p>
        </p:txBody>
      </p:sp>
      <p:sp>
        <p:nvSpPr>
          <p:cNvPr id="8" name="code chip"/>
          <p:cNvSpPr/>
          <p:nvPr/>
        </p:nvSpPr>
        <p:spPr>
          <a:xfrm>
            <a:off x="2560320" y="2834640"/>
            <a:ext cx="3291840" cy="548640"/>
          </a:xfrm>
          <a:prstGeom prst="roundRect">
            <a:avLst>
              <a:gd name="adj" fmla="val 13333"/>
            </a:avLst>
          </a:prstGeom>
          <a:solidFill>
            <a:srgbClr val="1C2733"/>
          </a:solidFill>
          <a:ln w="12700">
            <a:solidFill>
              <a:srgbClr val="1C2733"/>
            </a:solidFill>
            <a:prstDash val="solid"/>
          </a:ln>
        </p:spPr>
        <p:txBody>
          <a:bodyPr/>
          <a:lstStyle/>
          <a:p>
            <a:endParaRPr lang="en-US"/>
          </a:p>
        </p:txBody>
      </p:sp>
      <p:sp>
        <p:nvSpPr>
          <p:cNvPr id="9" name="Text 7"/>
          <p:cNvSpPr txBox="1"/>
          <p:nvPr/>
        </p:nvSpPr>
        <p:spPr>
          <a:xfrm>
            <a:off x="2788920" y="2834640"/>
            <a:ext cx="2926080" cy="548640"/>
          </a:xfrm>
          <a:prstGeom prst="rect">
            <a:avLst/>
          </a:prstGeom>
          <a:noFill/>
          <a:ln/>
        </p:spPr>
        <p:txBody>
          <a:bodyPr wrap="square" lIns="0" tIns="0" rIns="0" bIns="0" rtlCol="0" anchor="ctr"/>
          <a:lstStyle/>
          <a:p>
            <a:pPr marL="0" indent="0">
              <a:buNone/>
            </a:pPr>
            <a:r>
              <a:rPr lang="en-US" sz="1600" dirty="0">
                <a:solidFill>
                  <a:srgbClr val="FFFFFF"/>
                </a:solidFill>
                <a:latin typeface="Courier New" pitchFamily="34" charset="0"/>
                <a:ea typeface="Courier New" pitchFamily="34" charset="-122"/>
                <a:cs typeface="Courier New" pitchFamily="34" charset="-120"/>
              </a:rPr>
              <a:t>total_cases</a:t>
            </a:r>
            <a:endParaRPr lang="en-US" sz="1600" dirty="0"/>
          </a:p>
        </p:txBody>
      </p:sp>
      <p:sp>
        <p:nvSpPr>
          <p:cNvPr id="10" name="Text 8"/>
          <p:cNvSpPr txBox="1"/>
          <p:nvPr/>
        </p:nvSpPr>
        <p:spPr>
          <a:xfrm>
            <a:off x="640080" y="3794760"/>
            <a:ext cx="5486400" cy="457200"/>
          </a:xfrm>
          <a:prstGeom prst="rect">
            <a:avLst/>
          </a:prstGeom>
          <a:noFill/>
          <a:ln/>
        </p:spPr>
        <p:txBody>
          <a:bodyPr wrap="square" lIns="0" tIns="0" rIns="0" bIns="0" rtlCol="0" anchor="t"/>
          <a:lstStyle/>
          <a:p>
            <a:pPr marL="0" indent="0">
              <a:buNone/>
            </a:pPr>
            <a:r>
              <a:rPr lang="en-US" sz="2000" b="1" dirty="0">
                <a:solidFill>
                  <a:srgbClr val="022851"/>
                </a:solidFill>
              </a:rPr>
              <a:t>Embed meaning in the name</a:t>
            </a:r>
            <a:endParaRPr lang="en-US" sz="2000" dirty="0"/>
          </a:p>
        </p:txBody>
      </p:sp>
      <p:sp>
        <p:nvSpPr>
          <p:cNvPr id="11" name="code chip"/>
          <p:cNvSpPr/>
          <p:nvPr/>
        </p:nvSpPr>
        <p:spPr>
          <a:xfrm>
            <a:off x="640080" y="4389120"/>
            <a:ext cx="1188720" cy="548640"/>
          </a:xfrm>
          <a:prstGeom prst="roundRect">
            <a:avLst>
              <a:gd name="adj" fmla="val 13333"/>
            </a:avLst>
          </a:prstGeom>
          <a:solidFill>
            <a:srgbClr val="1C2733"/>
          </a:solidFill>
          <a:ln w="12700">
            <a:solidFill>
              <a:srgbClr val="1C2733"/>
            </a:solidFill>
            <a:prstDash val="solid"/>
          </a:ln>
        </p:spPr>
        <p:txBody>
          <a:bodyPr/>
          <a:lstStyle/>
          <a:p>
            <a:endParaRPr lang="en-US"/>
          </a:p>
        </p:txBody>
      </p:sp>
      <p:sp>
        <p:nvSpPr>
          <p:cNvPr id="12" name="Text 10"/>
          <p:cNvSpPr txBox="1"/>
          <p:nvPr/>
        </p:nvSpPr>
        <p:spPr>
          <a:xfrm>
            <a:off x="640080" y="4389120"/>
            <a:ext cx="1188720" cy="548640"/>
          </a:xfrm>
          <a:prstGeom prst="rect">
            <a:avLst/>
          </a:prstGeom>
          <a:noFill/>
          <a:ln/>
        </p:spPr>
        <p:txBody>
          <a:bodyPr wrap="square" lIns="0" tIns="0" rIns="0" bIns="0" rtlCol="0" anchor="ctr"/>
          <a:lstStyle/>
          <a:p>
            <a:pPr marL="0" indent="0" algn="ctr">
              <a:buNone/>
            </a:pPr>
            <a:r>
              <a:rPr lang="en-US" sz="1600" dirty="0">
                <a:solidFill>
                  <a:srgbClr val="FFFFFF"/>
                </a:solidFill>
                <a:latin typeface="Courier New" pitchFamily="34" charset="0"/>
                <a:ea typeface="Courier New" pitchFamily="34" charset="-122"/>
                <a:cs typeface="Courier New" pitchFamily="34" charset="-120"/>
              </a:rPr>
              <a:t>_df</a:t>
            </a:r>
            <a:endParaRPr lang="en-US" sz="1600" dirty="0"/>
          </a:p>
        </p:txBody>
      </p:sp>
      <p:sp>
        <p:nvSpPr>
          <p:cNvPr id="13" name="Text 11"/>
          <p:cNvSpPr txBox="1"/>
          <p:nvPr/>
        </p:nvSpPr>
        <p:spPr>
          <a:xfrm>
            <a:off x="2011680" y="4389120"/>
            <a:ext cx="4114800" cy="548640"/>
          </a:xfrm>
          <a:prstGeom prst="rect">
            <a:avLst/>
          </a:prstGeom>
          <a:noFill/>
          <a:ln/>
        </p:spPr>
        <p:txBody>
          <a:bodyPr wrap="square" lIns="0" tIns="0" rIns="0" bIns="0" rtlCol="0" anchor="ctr"/>
          <a:lstStyle/>
          <a:p>
            <a:pPr marL="0" indent="0">
              <a:buNone/>
            </a:pPr>
            <a:r>
              <a:rPr lang="en-US" sz="1600" dirty="0">
                <a:solidFill>
                  <a:schemeClr val="tx1"/>
                </a:solidFill>
              </a:rPr>
              <a:t>data frames, e.g. covid_df</a:t>
            </a:r>
            <a:endParaRPr lang="en-US" sz="1600" dirty="0"/>
          </a:p>
        </p:txBody>
      </p:sp>
      <p:sp>
        <p:nvSpPr>
          <p:cNvPr id="14" name="code chip"/>
          <p:cNvSpPr/>
          <p:nvPr/>
        </p:nvSpPr>
        <p:spPr>
          <a:xfrm>
            <a:off x="640080" y="5120640"/>
            <a:ext cx="1188720" cy="548640"/>
          </a:xfrm>
          <a:prstGeom prst="roundRect">
            <a:avLst>
              <a:gd name="adj" fmla="val 13333"/>
            </a:avLst>
          </a:prstGeom>
          <a:solidFill>
            <a:srgbClr val="1C2733"/>
          </a:solidFill>
          <a:ln w="12700">
            <a:solidFill>
              <a:srgbClr val="1C2733"/>
            </a:solidFill>
            <a:prstDash val="solid"/>
          </a:ln>
        </p:spPr>
        <p:txBody>
          <a:bodyPr/>
          <a:lstStyle/>
          <a:p>
            <a:endParaRPr lang="en-US"/>
          </a:p>
        </p:txBody>
      </p:sp>
      <p:sp>
        <p:nvSpPr>
          <p:cNvPr id="15" name="Text 13"/>
          <p:cNvSpPr txBox="1"/>
          <p:nvPr/>
        </p:nvSpPr>
        <p:spPr>
          <a:xfrm>
            <a:off x="640080" y="5120640"/>
            <a:ext cx="1188720" cy="548640"/>
          </a:xfrm>
          <a:prstGeom prst="rect">
            <a:avLst/>
          </a:prstGeom>
          <a:noFill/>
          <a:ln/>
        </p:spPr>
        <p:txBody>
          <a:bodyPr wrap="square" lIns="0" tIns="0" rIns="0" bIns="0" rtlCol="0" anchor="ctr"/>
          <a:lstStyle/>
          <a:p>
            <a:pPr marL="0" indent="0" algn="ctr">
              <a:buNone/>
            </a:pPr>
            <a:r>
              <a:rPr lang="en-US" sz="1600" dirty="0">
                <a:solidFill>
                  <a:srgbClr val="FFFFFF"/>
                </a:solidFill>
                <a:latin typeface="Courier New" pitchFamily="34" charset="0"/>
                <a:ea typeface="Courier New" pitchFamily="34" charset="-122"/>
                <a:cs typeface="Courier New" pitchFamily="34" charset="-120"/>
              </a:rPr>
              <a:t>_mat</a:t>
            </a:r>
            <a:endParaRPr lang="en-US" sz="1600" dirty="0"/>
          </a:p>
        </p:txBody>
      </p:sp>
      <p:sp>
        <p:nvSpPr>
          <p:cNvPr id="16" name="Text 14"/>
          <p:cNvSpPr txBox="1"/>
          <p:nvPr/>
        </p:nvSpPr>
        <p:spPr>
          <a:xfrm>
            <a:off x="2011680" y="5120640"/>
            <a:ext cx="4114800" cy="548640"/>
          </a:xfrm>
          <a:prstGeom prst="rect">
            <a:avLst/>
          </a:prstGeom>
          <a:noFill/>
          <a:ln/>
        </p:spPr>
        <p:txBody>
          <a:bodyPr wrap="square" lIns="0" tIns="0" rIns="0" bIns="0" rtlCol="0" anchor="ctr"/>
          <a:lstStyle/>
          <a:p>
            <a:pPr marL="0" indent="0">
              <a:buNone/>
            </a:pPr>
            <a:r>
              <a:rPr lang="en-US" sz="1600" dirty="0">
                <a:solidFill>
                  <a:schemeClr val="tx1"/>
                </a:solidFill>
              </a:rPr>
              <a:t>matrices, e.g. contact_mat</a:t>
            </a:r>
            <a:endParaRPr lang="en-US" sz="1600" dirty="0"/>
          </a:p>
        </p:txBody>
      </p:sp>
      <p:sp>
        <p:nvSpPr>
          <p:cNvPr id="17" name="card"/>
          <p:cNvSpPr/>
          <p:nvPr/>
        </p:nvSpPr>
        <p:spPr>
          <a:xfrm>
            <a:off x="6675120" y="1600200"/>
            <a:ext cx="2286000" cy="1920240"/>
          </a:xfrm>
          <a:prstGeom prst="roundRect">
            <a:avLst>
              <a:gd name="adj" fmla="val 5714"/>
            </a:avLst>
          </a:prstGeom>
          <a:solidFill>
            <a:srgbClr val="022851"/>
          </a:solidFill>
          <a:ln w="12700">
            <a:solidFill>
              <a:srgbClr val="022851"/>
            </a:solidFill>
            <a:prstDash val="solid"/>
          </a:ln>
        </p:spPr>
        <p:txBody>
          <a:bodyPr/>
          <a:lstStyle/>
          <a:p>
            <a:endParaRPr lang="en-US"/>
          </a:p>
        </p:txBody>
      </p:sp>
      <p:sp>
        <p:nvSpPr>
          <p:cNvPr id="18" name="Text 16"/>
          <p:cNvSpPr txBox="1"/>
          <p:nvPr/>
        </p:nvSpPr>
        <p:spPr>
          <a:xfrm>
            <a:off x="6858000" y="1600200"/>
            <a:ext cx="1920240" cy="1920240"/>
          </a:xfrm>
          <a:prstGeom prst="rect">
            <a:avLst/>
          </a:prstGeom>
          <a:noFill/>
          <a:ln/>
        </p:spPr>
        <p:txBody>
          <a:bodyPr wrap="square" lIns="0" tIns="0" rIns="0" bIns="0" rtlCol="0" anchor="ctr"/>
          <a:lstStyle/>
          <a:p>
            <a:pPr marL="0" indent="0" algn="ctr">
              <a:buNone/>
            </a:pPr>
            <a:r>
              <a:rPr lang="en-US" sz="2000" b="1" dirty="0">
                <a:solidFill>
                  <a:srgbClr val="FFFFFF"/>
                </a:solidFill>
              </a:rPr>
              <a:t>Descriptive</a:t>
            </a:r>
            <a:endParaRPr lang="en-US" sz="2000" dirty="0"/>
          </a:p>
        </p:txBody>
      </p:sp>
      <p:sp>
        <p:nvSpPr>
          <p:cNvPr id="19" name="card"/>
          <p:cNvSpPr/>
          <p:nvPr/>
        </p:nvSpPr>
        <p:spPr>
          <a:xfrm>
            <a:off x="9144000" y="1600200"/>
            <a:ext cx="2286000" cy="1920240"/>
          </a:xfrm>
          <a:prstGeom prst="roundRect">
            <a:avLst>
              <a:gd name="adj" fmla="val 5714"/>
            </a:avLst>
          </a:prstGeom>
          <a:solidFill>
            <a:srgbClr val="E6EAEE"/>
          </a:solidFill>
          <a:ln w="12700">
            <a:solidFill>
              <a:srgbClr val="E6EAEE"/>
            </a:solidFill>
            <a:prstDash val="solid"/>
          </a:ln>
        </p:spPr>
        <p:txBody>
          <a:bodyPr/>
          <a:lstStyle/>
          <a:p>
            <a:endParaRPr lang="en-US"/>
          </a:p>
        </p:txBody>
      </p:sp>
      <p:sp>
        <p:nvSpPr>
          <p:cNvPr id="20" name="Text 18"/>
          <p:cNvSpPr txBox="1"/>
          <p:nvPr/>
        </p:nvSpPr>
        <p:spPr>
          <a:xfrm>
            <a:off x="9326880" y="1600200"/>
            <a:ext cx="1920240" cy="1920240"/>
          </a:xfrm>
          <a:prstGeom prst="rect">
            <a:avLst/>
          </a:prstGeom>
          <a:noFill/>
          <a:ln/>
        </p:spPr>
        <p:txBody>
          <a:bodyPr wrap="square" lIns="0" tIns="0" rIns="0" bIns="0" rtlCol="0" anchor="ctr"/>
          <a:lstStyle/>
          <a:p>
            <a:pPr marL="0" indent="0" algn="ctr">
              <a:buNone/>
            </a:pPr>
            <a:r>
              <a:rPr lang="en-US" sz="2000" b="1" dirty="0">
                <a:solidFill>
                  <a:srgbClr val="022851"/>
                </a:solidFill>
              </a:rPr>
              <a:t>Consistent</a:t>
            </a:r>
            <a:endParaRPr lang="en-US" sz="2000" dirty="0"/>
          </a:p>
        </p:txBody>
      </p:sp>
      <p:sp>
        <p:nvSpPr>
          <p:cNvPr id="21" name="card"/>
          <p:cNvSpPr/>
          <p:nvPr/>
        </p:nvSpPr>
        <p:spPr>
          <a:xfrm>
            <a:off x="6675120" y="3749040"/>
            <a:ext cx="2286000" cy="1920240"/>
          </a:xfrm>
          <a:prstGeom prst="roundRect">
            <a:avLst>
              <a:gd name="adj" fmla="val 5714"/>
            </a:avLst>
          </a:prstGeom>
          <a:solidFill>
            <a:srgbClr val="E6EAEE"/>
          </a:solidFill>
          <a:ln w="12700">
            <a:solidFill>
              <a:srgbClr val="E6EAEE"/>
            </a:solidFill>
            <a:prstDash val="solid"/>
          </a:ln>
        </p:spPr>
        <p:txBody>
          <a:bodyPr/>
          <a:lstStyle/>
          <a:p>
            <a:endParaRPr lang="en-US"/>
          </a:p>
        </p:txBody>
      </p:sp>
      <p:sp>
        <p:nvSpPr>
          <p:cNvPr id="22" name="Text 20"/>
          <p:cNvSpPr txBox="1"/>
          <p:nvPr/>
        </p:nvSpPr>
        <p:spPr>
          <a:xfrm>
            <a:off x="6858000" y="3749040"/>
            <a:ext cx="1920240" cy="1920240"/>
          </a:xfrm>
          <a:prstGeom prst="rect">
            <a:avLst/>
          </a:prstGeom>
          <a:noFill/>
          <a:ln/>
        </p:spPr>
        <p:txBody>
          <a:bodyPr wrap="square" lIns="0" tIns="0" rIns="0" bIns="0" rtlCol="0" anchor="ctr"/>
          <a:lstStyle/>
          <a:p>
            <a:pPr marL="0" indent="0" algn="ctr">
              <a:buNone/>
            </a:pPr>
            <a:r>
              <a:rPr lang="en-US" sz="2000" b="1" dirty="0">
                <a:solidFill>
                  <a:srgbClr val="022851"/>
                </a:solidFill>
              </a:rPr>
              <a:t>Human readable</a:t>
            </a:r>
            <a:endParaRPr lang="en-US" sz="2000" dirty="0"/>
          </a:p>
        </p:txBody>
      </p:sp>
      <p:sp>
        <p:nvSpPr>
          <p:cNvPr id="23" name="card"/>
          <p:cNvSpPr/>
          <p:nvPr/>
        </p:nvSpPr>
        <p:spPr>
          <a:xfrm>
            <a:off x="9144000" y="3749040"/>
            <a:ext cx="2286000" cy="1920240"/>
          </a:xfrm>
          <a:prstGeom prst="roundRect">
            <a:avLst>
              <a:gd name="adj" fmla="val 5714"/>
            </a:avLst>
          </a:prstGeom>
          <a:solidFill>
            <a:srgbClr val="022851"/>
          </a:solidFill>
          <a:ln w="12700">
            <a:solidFill>
              <a:srgbClr val="022851"/>
            </a:solidFill>
            <a:prstDash val="solid"/>
          </a:ln>
        </p:spPr>
        <p:txBody>
          <a:bodyPr/>
          <a:lstStyle/>
          <a:p>
            <a:endParaRPr lang="en-US"/>
          </a:p>
        </p:txBody>
      </p:sp>
      <p:sp>
        <p:nvSpPr>
          <p:cNvPr id="24" name="Text 22"/>
          <p:cNvSpPr txBox="1"/>
          <p:nvPr/>
        </p:nvSpPr>
        <p:spPr>
          <a:xfrm>
            <a:off x="9326880" y="3749040"/>
            <a:ext cx="1920240" cy="1920240"/>
          </a:xfrm>
          <a:prstGeom prst="rect">
            <a:avLst/>
          </a:prstGeom>
          <a:noFill/>
          <a:ln/>
        </p:spPr>
        <p:txBody>
          <a:bodyPr wrap="square" lIns="0" tIns="0" rIns="0" bIns="0" rtlCol="0" anchor="ctr"/>
          <a:lstStyle/>
          <a:p>
            <a:pPr marL="0" indent="0" algn="ctr">
              <a:buNone/>
            </a:pPr>
            <a:r>
              <a:rPr lang="en-US" sz="2000" b="1" dirty="0">
                <a:solidFill>
                  <a:srgbClr val="FFFFFF"/>
                </a:solidFill>
              </a:rPr>
              <a:t>Machine readable</a:t>
            </a:r>
            <a:endParaRPr lang="en-US" sz="2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Data management and backup</a:t>
            </a:r>
            <a:endParaRPr lang="en-US" sz="3400" dirty="0"/>
          </a:p>
        </p:txBody>
      </p:sp>
      <p:sp>
        <p:nvSpPr>
          <p:cNvPr id="3" name="card"/>
          <p:cNvSpPr/>
          <p:nvPr/>
        </p:nvSpPr>
        <p:spPr>
          <a:xfrm>
            <a:off x="640080" y="1554480"/>
            <a:ext cx="5349240" cy="201168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4" name="icon circle"/>
          <p:cNvSpPr/>
          <p:nvPr/>
        </p:nvSpPr>
        <p:spPr>
          <a:xfrm>
            <a:off x="960120" y="1874520"/>
            <a:ext cx="777240" cy="777240"/>
          </a:xfrm>
          <a:prstGeom prst="ellipse">
            <a:avLst/>
          </a:prstGeom>
          <a:solidFill>
            <a:srgbClr val="FFBF00"/>
          </a:solidFill>
          <a:ln w="12700">
            <a:solidFill>
              <a:srgbClr val="FFBF00"/>
            </a:solidFill>
            <a:prstDash val="solid"/>
          </a:ln>
        </p:spPr>
        <p:txBody>
          <a:bodyPr/>
          <a:lstStyle/>
          <a:p>
            <a:endParaRPr lang="en-US"/>
          </a:p>
        </p:txBody>
      </p:sp>
      <p:pic>
        <p:nvPicPr>
          <p:cNvPr id="5" name="icon" descr="preencoded.png"/>
          <p:cNvPicPr>
            <a:picLocks noChangeAspect="1"/>
          </p:cNvPicPr>
          <p:nvPr/>
        </p:nvPicPr>
        <p:blipFill>
          <a:blip r:embed="rId3"/>
          <a:stretch>
            <a:fillRect/>
          </a:stretch>
        </p:blipFill>
        <p:spPr>
          <a:xfrm>
            <a:off x="1154430" y="2068830"/>
            <a:ext cx="388620" cy="388620"/>
          </a:xfrm>
          <a:prstGeom prst="rect">
            <a:avLst/>
          </a:prstGeom>
        </p:spPr>
      </p:pic>
      <p:sp>
        <p:nvSpPr>
          <p:cNvPr id="6" name="Text 3"/>
          <p:cNvSpPr txBox="1"/>
          <p:nvPr/>
        </p:nvSpPr>
        <p:spPr>
          <a:xfrm>
            <a:off x="2011680" y="1874520"/>
            <a:ext cx="3749040" cy="502920"/>
          </a:xfrm>
          <a:prstGeom prst="rect">
            <a:avLst/>
          </a:prstGeom>
          <a:noFill/>
          <a:ln/>
        </p:spPr>
        <p:txBody>
          <a:bodyPr wrap="square" lIns="0" tIns="0" rIns="0" bIns="0" rtlCol="0" anchor="t"/>
          <a:lstStyle/>
          <a:p>
            <a:pPr marL="0" indent="0">
              <a:buNone/>
            </a:pPr>
            <a:r>
              <a:rPr lang="en-US" sz="2000" b="1" dirty="0">
                <a:solidFill>
                  <a:srgbClr val="022851"/>
                </a:solidFill>
              </a:rPr>
              <a:t>Raw ≠ derived</a:t>
            </a:r>
            <a:endParaRPr lang="en-US" sz="2000" dirty="0"/>
          </a:p>
        </p:txBody>
      </p:sp>
      <p:sp>
        <p:nvSpPr>
          <p:cNvPr id="7" name="Text 4"/>
          <p:cNvSpPr txBox="1"/>
          <p:nvPr/>
        </p:nvSpPr>
        <p:spPr>
          <a:xfrm>
            <a:off x="2011680" y="2423160"/>
            <a:ext cx="3749040" cy="914400"/>
          </a:xfrm>
          <a:prstGeom prst="rect">
            <a:avLst/>
          </a:prstGeom>
          <a:noFill/>
          <a:ln/>
        </p:spPr>
        <p:txBody>
          <a:bodyPr wrap="square" lIns="0" tIns="0" rIns="0" bIns="0" rtlCol="0" anchor="t"/>
          <a:lstStyle/>
          <a:p>
            <a:pPr marL="0" indent="0">
              <a:buNone/>
            </a:pPr>
            <a:r>
              <a:rPr lang="en-US" sz="1600" dirty="0">
                <a:solidFill>
                  <a:schemeClr val="tx1"/>
                </a:solidFill>
              </a:rPr>
              <a:t>Store raw and derived data in separate folders.</a:t>
            </a:r>
            <a:endParaRPr lang="en-US" sz="1600" dirty="0"/>
          </a:p>
        </p:txBody>
      </p:sp>
      <p:sp>
        <p:nvSpPr>
          <p:cNvPr id="8" name="card"/>
          <p:cNvSpPr/>
          <p:nvPr/>
        </p:nvSpPr>
        <p:spPr>
          <a:xfrm>
            <a:off x="6172200" y="1554480"/>
            <a:ext cx="5349240" cy="201168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9" name="icon circle"/>
          <p:cNvSpPr/>
          <p:nvPr/>
        </p:nvSpPr>
        <p:spPr>
          <a:xfrm>
            <a:off x="6492240" y="1874520"/>
            <a:ext cx="777240" cy="777240"/>
          </a:xfrm>
          <a:prstGeom prst="ellipse">
            <a:avLst/>
          </a:prstGeom>
          <a:solidFill>
            <a:srgbClr val="FFBF00"/>
          </a:solidFill>
          <a:ln w="12700">
            <a:solidFill>
              <a:srgbClr val="FFBF00"/>
            </a:solidFill>
            <a:prstDash val="solid"/>
          </a:ln>
        </p:spPr>
        <p:txBody>
          <a:bodyPr/>
          <a:lstStyle/>
          <a:p>
            <a:endParaRPr lang="en-US"/>
          </a:p>
        </p:txBody>
      </p:sp>
      <p:pic>
        <p:nvPicPr>
          <p:cNvPr id="10" name="icon" descr="preencoded.png"/>
          <p:cNvPicPr>
            <a:picLocks noChangeAspect="1"/>
          </p:cNvPicPr>
          <p:nvPr/>
        </p:nvPicPr>
        <p:blipFill>
          <a:blip r:embed="rId4"/>
          <a:stretch>
            <a:fillRect/>
          </a:stretch>
        </p:blipFill>
        <p:spPr>
          <a:xfrm>
            <a:off x="6686550" y="2068830"/>
            <a:ext cx="388620" cy="388620"/>
          </a:xfrm>
          <a:prstGeom prst="rect">
            <a:avLst/>
          </a:prstGeom>
        </p:spPr>
      </p:pic>
      <p:sp>
        <p:nvSpPr>
          <p:cNvPr id="11" name="Text 7"/>
          <p:cNvSpPr txBox="1"/>
          <p:nvPr/>
        </p:nvSpPr>
        <p:spPr>
          <a:xfrm>
            <a:off x="7543800" y="1874520"/>
            <a:ext cx="3749040" cy="502920"/>
          </a:xfrm>
          <a:prstGeom prst="rect">
            <a:avLst/>
          </a:prstGeom>
          <a:noFill/>
          <a:ln/>
        </p:spPr>
        <p:txBody>
          <a:bodyPr wrap="square" lIns="0" tIns="0" rIns="0" bIns="0" rtlCol="0" anchor="t"/>
          <a:lstStyle/>
          <a:p>
            <a:pPr marL="0" indent="0">
              <a:buNone/>
            </a:pPr>
            <a:r>
              <a:rPr lang="en-US" sz="2000" b="1" dirty="0">
                <a:solidFill>
                  <a:srgbClr val="022851"/>
                </a:solidFill>
              </a:rPr>
              <a:t>Keep a data dictionary</a:t>
            </a:r>
            <a:endParaRPr lang="en-US" sz="2000" dirty="0"/>
          </a:p>
        </p:txBody>
      </p:sp>
      <p:sp>
        <p:nvSpPr>
          <p:cNvPr id="12" name="Text 8"/>
          <p:cNvSpPr txBox="1"/>
          <p:nvPr/>
        </p:nvSpPr>
        <p:spPr>
          <a:xfrm>
            <a:off x="7543800" y="2423160"/>
            <a:ext cx="3749040" cy="914400"/>
          </a:xfrm>
          <a:prstGeom prst="rect">
            <a:avLst/>
          </a:prstGeom>
          <a:noFill/>
          <a:ln/>
        </p:spPr>
        <p:txBody>
          <a:bodyPr wrap="square" lIns="0" tIns="0" rIns="0" bIns="0" rtlCol="0" anchor="t"/>
          <a:lstStyle/>
          <a:p>
            <a:pPr marL="0" indent="0">
              <a:buNone/>
            </a:pPr>
            <a:r>
              <a:rPr lang="en-US" sz="1600" dirty="0">
                <a:solidFill>
                  <a:schemeClr val="tx1"/>
                </a:solidFill>
              </a:rPr>
              <a:t>e.g. data_description.xlsx: what each column means and its units.</a:t>
            </a:r>
            <a:endParaRPr lang="en-US" sz="1600" dirty="0"/>
          </a:p>
        </p:txBody>
      </p:sp>
      <p:sp>
        <p:nvSpPr>
          <p:cNvPr id="13" name="card"/>
          <p:cNvSpPr/>
          <p:nvPr/>
        </p:nvSpPr>
        <p:spPr>
          <a:xfrm>
            <a:off x="640080" y="3794760"/>
            <a:ext cx="5349240" cy="201168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14" name="icon circle"/>
          <p:cNvSpPr/>
          <p:nvPr/>
        </p:nvSpPr>
        <p:spPr>
          <a:xfrm>
            <a:off x="960120" y="4114800"/>
            <a:ext cx="777240" cy="777240"/>
          </a:xfrm>
          <a:prstGeom prst="ellipse">
            <a:avLst/>
          </a:prstGeom>
          <a:solidFill>
            <a:srgbClr val="FFBF00"/>
          </a:solidFill>
          <a:ln w="12700">
            <a:solidFill>
              <a:srgbClr val="FFBF00"/>
            </a:solidFill>
            <a:prstDash val="solid"/>
          </a:ln>
        </p:spPr>
        <p:txBody>
          <a:bodyPr/>
          <a:lstStyle/>
          <a:p>
            <a:endParaRPr lang="en-US"/>
          </a:p>
        </p:txBody>
      </p:sp>
      <p:pic>
        <p:nvPicPr>
          <p:cNvPr id="15" name="icon" descr="preencoded.png"/>
          <p:cNvPicPr>
            <a:picLocks noChangeAspect="1"/>
          </p:cNvPicPr>
          <p:nvPr/>
        </p:nvPicPr>
        <p:blipFill>
          <a:blip r:embed="rId5"/>
          <a:stretch>
            <a:fillRect/>
          </a:stretch>
        </p:blipFill>
        <p:spPr>
          <a:xfrm>
            <a:off x="1154430" y="4309110"/>
            <a:ext cx="388620" cy="388620"/>
          </a:xfrm>
          <a:prstGeom prst="rect">
            <a:avLst/>
          </a:prstGeom>
        </p:spPr>
      </p:pic>
      <p:sp>
        <p:nvSpPr>
          <p:cNvPr id="16" name="Text 11"/>
          <p:cNvSpPr txBox="1"/>
          <p:nvPr/>
        </p:nvSpPr>
        <p:spPr>
          <a:xfrm>
            <a:off x="2011680" y="4114800"/>
            <a:ext cx="3749040" cy="502920"/>
          </a:xfrm>
          <a:prstGeom prst="rect">
            <a:avLst/>
          </a:prstGeom>
          <a:noFill/>
          <a:ln/>
        </p:spPr>
        <p:txBody>
          <a:bodyPr wrap="square" lIns="0" tIns="0" rIns="0" bIns="0" rtlCol="0" anchor="t"/>
          <a:lstStyle/>
          <a:p>
            <a:pPr marL="0" indent="0">
              <a:buNone/>
            </a:pPr>
            <a:r>
              <a:rPr lang="en-US" sz="2000" b="1" dirty="0">
                <a:solidFill>
                  <a:srgbClr val="022851"/>
                </a:solidFill>
              </a:rPr>
              <a:t>Record metadata</a:t>
            </a:r>
            <a:endParaRPr lang="en-US" sz="2000" dirty="0"/>
          </a:p>
        </p:txBody>
      </p:sp>
      <p:sp>
        <p:nvSpPr>
          <p:cNvPr id="17" name="Text 12"/>
          <p:cNvSpPr txBox="1"/>
          <p:nvPr/>
        </p:nvSpPr>
        <p:spPr>
          <a:xfrm>
            <a:off x="2011680" y="4663440"/>
            <a:ext cx="3749040" cy="914400"/>
          </a:xfrm>
          <a:prstGeom prst="rect">
            <a:avLst/>
          </a:prstGeom>
          <a:noFill/>
          <a:ln/>
        </p:spPr>
        <p:txBody>
          <a:bodyPr wrap="square" lIns="0" tIns="0" rIns="0" bIns="0" rtlCol="0" anchor="t"/>
          <a:lstStyle/>
          <a:p>
            <a:pPr marL="0" indent="0">
              <a:buNone/>
            </a:pPr>
            <a:r>
              <a:rPr lang="en-US" sz="1600" dirty="0">
                <a:solidFill>
                  <a:schemeClr val="tx1"/>
                </a:solidFill>
              </a:rPr>
              <a:t>Where the data came from and every processing step.</a:t>
            </a:r>
            <a:endParaRPr lang="en-US" sz="1600" dirty="0"/>
          </a:p>
        </p:txBody>
      </p:sp>
      <p:sp>
        <p:nvSpPr>
          <p:cNvPr id="18" name="card"/>
          <p:cNvSpPr/>
          <p:nvPr/>
        </p:nvSpPr>
        <p:spPr>
          <a:xfrm>
            <a:off x="6172200" y="3794760"/>
            <a:ext cx="5349240" cy="201168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19" name="icon circle"/>
          <p:cNvSpPr/>
          <p:nvPr/>
        </p:nvSpPr>
        <p:spPr>
          <a:xfrm>
            <a:off x="6492240" y="4114800"/>
            <a:ext cx="777240" cy="777240"/>
          </a:xfrm>
          <a:prstGeom prst="ellipse">
            <a:avLst/>
          </a:prstGeom>
          <a:solidFill>
            <a:srgbClr val="FFBF00"/>
          </a:solidFill>
          <a:ln w="12700">
            <a:solidFill>
              <a:srgbClr val="FFBF00"/>
            </a:solidFill>
            <a:prstDash val="solid"/>
          </a:ln>
        </p:spPr>
        <p:txBody>
          <a:bodyPr/>
          <a:lstStyle/>
          <a:p>
            <a:endParaRPr lang="en-US"/>
          </a:p>
        </p:txBody>
      </p:sp>
      <p:pic>
        <p:nvPicPr>
          <p:cNvPr id="20" name="icon" descr="preencoded.png"/>
          <p:cNvPicPr>
            <a:picLocks noChangeAspect="1"/>
          </p:cNvPicPr>
          <p:nvPr/>
        </p:nvPicPr>
        <p:blipFill>
          <a:blip r:embed="rId6"/>
          <a:stretch>
            <a:fillRect/>
          </a:stretch>
        </p:blipFill>
        <p:spPr>
          <a:xfrm>
            <a:off x="6686550" y="4309110"/>
            <a:ext cx="388620" cy="388620"/>
          </a:xfrm>
          <a:prstGeom prst="rect">
            <a:avLst/>
          </a:prstGeom>
        </p:spPr>
      </p:pic>
      <p:sp>
        <p:nvSpPr>
          <p:cNvPr id="21" name="Text 15"/>
          <p:cNvSpPr txBox="1"/>
          <p:nvPr/>
        </p:nvSpPr>
        <p:spPr>
          <a:xfrm>
            <a:off x="7543800" y="4114800"/>
            <a:ext cx="3749040" cy="502920"/>
          </a:xfrm>
          <a:prstGeom prst="rect">
            <a:avLst/>
          </a:prstGeom>
          <a:noFill/>
          <a:ln/>
        </p:spPr>
        <p:txBody>
          <a:bodyPr wrap="square" lIns="0" tIns="0" rIns="0" bIns="0" rtlCol="0" anchor="t"/>
          <a:lstStyle/>
          <a:p>
            <a:pPr marL="0" indent="0">
              <a:buNone/>
            </a:pPr>
            <a:r>
              <a:rPr lang="en-US" sz="2000" b="1" dirty="0">
                <a:solidFill>
                  <a:srgbClr val="022851"/>
                </a:solidFill>
              </a:rPr>
              <a:t>Back it up</a:t>
            </a:r>
            <a:endParaRPr lang="en-US" sz="2000" dirty="0"/>
          </a:p>
        </p:txBody>
      </p:sp>
      <p:sp>
        <p:nvSpPr>
          <p:cNvPr id="22" name="Text 16"/>
          <p:cNvSpPr txBox="1"/>
          <p:nvPr/>
        </p:nvSpPr>
        <p:spPr>
          <a:xfrm>
            <a:off x="7543800" y="4663440"/>
            <a:ext cx="3749040" cy="914400"/>
          </a:xfrm>
          <a:prstGeom prst="rect">
            <a:avLst/>
          </a:prstGeom>
          <a:noFill/>
          <a:ln/>
        </p:spPr>
        <p:txBody>
          <a:bodyPr wrap="square" lIns="0" tIns="0" rIns="0" bIns="0" rtlCol="0" anchor="t"/>
          <a:lstStyle/>
          <a:p>
            <a:pPr marL="0" indent="0">
              <a:buNone/>
            </a:pPr>
            <a:r>
              <a:rPr lang="en-US" sz="1600" dirty="0">
                <a:solidFill>
                  <a:schemeClr val="tx1"/>
                </a:solidFill>
              </a:rPr>
              <a:t>Box, Google Drive, GitHub, or rsync/Backblaze. Ideally more than one.</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Version control your data and code</a:t>
            </a:r>
            <a:endParaRPr lang="en-US" sz="3400" dirty="0"/>
          </a:p>
        </p:txBody>
      </p:sp>
      <p:sp>
        <p:nvSpPr>
          <p:cNvPr id="3" name="card"/>
          <p:cNvSpPr/>
          <p:nvPr/>
        </p:nvSpPr>
        <p:spPr>
          <a:xfrm>
            <a:off x="640080" y="1600200"/>
            <a:ext cx="3429000" cy="3108960"/>
          </a:xfrm>
          <a:prstGeom prst="roundRect">
            <a:avLst>
              <a:gd name="adj" fmla="val 3529"/>
            </a:avLst>
          </a:prstGeom>
          <a:solidFill>
            <a:srgbClr val="E6EAEE"/>
          </a:solidFill>
          <a:ln w="12700">
            <a:solidFill>
              <a:srgbClr val="E6EAEE"/>
            </a:solidFill>
            <a:prstDash val="solid"/>
          </a:ln>
        </p:spPr>
        <p:txBody>
          <a:bodyPr/>
          <a:lstStyle/>
          <a:p>
            <a:endParaRPr lang="en-US"/>
          </a:p>
        </p:txBody>
      </p:sp>
      <p:sp>
        <p:nvSpPr>
          <p:cNvPr id="4" name="icon circle"/>
          <p:cNvSpPr/>
          <p:nvPr/>
        </p:nvSpPr>
        <p:spPr>
          <a:xfrm>
            <a:off x="960120" y="1920240"/>
            <a:ext cx="868680" cy="868680"/>
          </a:xfrm>
          <a:prstGeom prst="ellipse">
            <a:avLst/>
          </a:prstGeom>
          <a:solidFill>
            <a:srgbClr val="FFBF00"/>
          </a:solidFill>
          <a:ln w="12700">
            <a:solidFill>
              <a:srgbClr val="FFBF00"/>
            </a:solidFill>
            <a:prstDash val="solid"/>
          </a:ln>
        </p:spPr>
        <p:txBody>
          <a:bodyPr/>
          <a:lstStyle/>
          <a:p>
            <a:endParaRPr lang="en-US"/>
          </a:p>
        </p:txBody>
      </p:sp>
      <p:pic>
        <p:nvPicPr>
          <p:cNvPr id="5" name="icon" descr="preencoded.png"/>
          <p:cNvPicPr>
            <a:picLocks noChangeAspect="1"/>
          </p:cNvPicPr>
          <p:nvPr/>
        </p:nvPicPr>
        <p:blipFill>
          <a:blip r:embed="rId3"/>
          <a:stretch>
            <a:fillRect/>
          </a:stretch>
        </p:blipFill>
        <p:spPr>
          <a:xfrm>
            <a:off x="1177290" y="2137410"/>
            <a:ext cx="434340" cy="434340"/>
          </a:xfrm>
          <a:prstGeom prst="rect">
            <a:avLst/>
          </a:prstGeom>
        </p:spPr>
      </p:pic>
      <p:sp>
        <p:nvSpPr>
          <p:cNvPr id="6" name="Text 3"/>
          <p:cNvSpPr txBox="1"/>
          <p:nvPr/>
        </p:nvSpPr>
        <p:spPr>
          <a:xfrm>
            <a:off x="960120" y="2971800"/>
            <a:ext cx="2834640" cy="502920"/>
          </a:xfrm>
          <a:prstGeom prst="rect">
            <a:avLst/>
          </a:prstGeom>
          <a:noFill/>
          <a:ln/>
        </p:spPr>
        <p:txBody>
          <a:bodyPr wrap="square" lIns="0" tIns="0" rIns="0" bIns="0" rtlCol="0" anchor="t"/>
          <a:lstStyle/>
          <a:p>
            <a:pPr marL="0" indent="0">
              <a:buNone/>
            </a:pPr>
            <a:r>
              <a:rPr lang="en-US" sz="2100" b="1" dirty="0">
                <a:solidFill>
                  <a:srgbClr val="022851"/>
                </a:solidFill>
              </a:rPr>
              <a:t>Git + GitHub</a:t>
            </a:r>
            <a:endParaRPr lang="en-US" sz="2100" dirty="0"/>
          </a:p>
        </p:txBody>
      </p:sp>
      <p:sp>
        <p:nvSpPr>
          <p:cNvPr id="7" name="Text 4"/>
          <p:cNvSpPr txBox="1"/>
          <p:nvPr/>
        </p:nvSpPr>
        <p:spPr>
          <a:xfrm>
            <a:off x="960120" y="3520440"/>
            <a:ext cx="2834640" cy="1005840"/>
          </a:xfrm>
          <a:prstGeom prst="rect">
            <a:avLst/>
          </a:prstGeom>
          <a:noFill/>
          <a:ln/>
        </p:spPr>
        <p:txBody>
          <a:bodyPr wrap="square" lIns="0" tIns="0" rIns="0" bIns="0" rtlCol="0" anchor="t"/>
          <a:lstStyle/>
          <a:p>
            <a:pPr marL="0" indent="0">
              <a:buNone/>
            </a:pPr>
            <a:r>
              <a:rPr lang="en-US" sz="1600" dirty="0">
                <a:solidFill>
                  <a:schemeClr val="tx1"/>
                </a:solidFill>
              </a:rPr>
              <a:t>Every change is recorded and reversible. github.com</a:t>
            </a:r>
            <a:endParaRPr lang="en-US" sz="1600" dirty="0"/>
          </a:p>
        </p:txBody>
      </p:sp>
      <p:sp>
        <p:nvSpPr>
          <p:cNvPr id="8" name="card"/>
          <p:cNvSpPr/>
          <p:nvPr/>
        </p:nvSpPr>
        <p:spPr>
          <a:xfrm>
            <a:off x="4343400" y="1600200"/>
            <a:ext cx="3429000" cy="3108960"/>
          </a:xfrm>
          <a:prstGeom prst="roundRect">
            <a:avLst>
              <a:gd name="adj" fmla="val 3529"/>
            </a:avLst>
          </a:prstGeom>
          <a:solidFill>
            <a:srgbClr val="E6EAEE"/>
          </a:solidFill>
          <a:ln w="12700">
            <a:solidFill>
              <a:srgbClr val="E6EAEE"/>
            </a:solidFill>
            <a:prstDash val="solid"/>
          </a:ln>
        </p:spPr>
        <p:txBody>
          <a:bodyPr/>
          <a:lstStyle/>
          <a:p>
            <a:endParaRPr lang="en-US"/>
          </a:p>
        </p:txBody>
      </p:sp>
      <p:sp>
        <p:nvSpPr>
          <p:cNvPr id="9" name="icon circle"/>
          <p:cNvSpPr/>
          <p:nvPr/>
        </p:nvSpPr>
        <p:spPr>
          <a:xfrm>
            <a:off x="4663440" y="1920240"/>
            <a:ext cx="868680" cy="868680"/>
          </a:xfrm>
          <a:prstGeom prst="ellipse">
            <a:avLst/>
          </a:prstGeom>
          <a:solidFill>
            <a:srgbClr val="FFBF00"/>
          </a:solidFill>
          <a:ln w="12700">
            <a:solidFill>
              <a:srgbClr val="FFBF00"/>
            </a:solidFill>
            <a:prstDash val="solid"/>
          </a:ln>
        </p:spPr>
        <p:txBody>
          <a:bodyPr/>
          <a:lstStyle/>
          <a:p>
            <a:endParaRPr lang="en-US"/>
          </a:p>
        </p:txBody>
      </p:sp>
      <p:pic>
        <p:nvPicPr>
          <p:cNvPr id="10" name="icon" descr="preencoded.png"/>
          <p:cNvPicPr>
            <a:picLocks noChangeAspect="1"/>
          </p:cNvPicPr>
          <p:nvPr/>
        </p:nvPicPr>
        <p:blipFill>
          <a:blip r:embed="rId4"/>
          <a:stretch>
            <a:fillRect/>
          </a:stretch>
        </p:blipFill>
        <p:spPr>
          <a:xfrm>
            <a:off x="4880610" y="2137410"/>
            <a:ext cx="434340" cy="434340"/>
          </a:xfrm>
          <a:prstGeom prst="rect">
            <a:avLst/>
          </a:prstGeom>
        </p:spPr>
      </p:pic>
      <p:sp>
        <p:nvSpPr>
          <p:cNvPr id="11" name="Text 7"/>
          <p:cNvSpPr txBox="1"/>
          <p:nvPr/>
        </p:nvSpPr>
        <p:spPr>
          <a:xfrm>
            <a:off x="4663440" y="2971800"/>
            <a:ext cx="2834640" cy="502920"/>
          </a:xfrm>
          <a:prstGeom prst="rect">
            <a:avLst/>
          </a:prstGeom>
          <a:noFill/>
          <a:ln/>
        </p:spPr>
        <p:txBody>
          <a:bodyPr wrap="square" lIns="0" tIns="0" rIns="0" bIns="0" rtlCol="0" anchor="t"/>
          <a:lstStyle/>
          <a:p>
            <a:pPr marL="0" indent="0">
              <a:buNone/>
            </a:pPr>
            <a:r>
              <a:rPr lang="en-US" sz="2100" b="1" dirty="0">
                <a:solidFill>
                  <a:srgbClr val="022851"/>
                </a:solidFill>
              </a:rPr>
              <a:t>Cloud drives</a:t>
            </a:r>
            <a:endParaRPr lang="en-US" sz="2100" dirty="0"/>
          </a:p>
        </p:txBody>
      </p:sp>
      <p:sp>
        <p:nvSpPr>
          <p:cNvPr id="12" name="Text 8"/>
          <p:cNvSpPr txBox="1"/>
          <p:nvPr/>
        </p:nvSpPr>
        <p:spPr>
          <a:xfrm>
            <a:off x="4663440" y="3520440"/>
            <a:ext cx="2834640" cy="1005840"/>
          </a:xfrm>
          <a:prstGeom prst="rect">
            <a:avLst/>
          </a:prstGeom>
          <a:noFill/>
          <a:ln/>
        </p:spPr>
        <p:txBody>
          <a:bodyPr wrap="square" lIns="0" tIns="0" rIns="0" bIns="0" rtlCol="0" anchor="t"/>
          <a:lstStyle/>
          <a:p>
            <a:pPr marL="0" indent="0">
              <a:buNone/>
            </a:pPr>
            <a:r>
              <a:rPr lang="en-US" sz="1600" dirty="0">
                <a:solidFill>
                  <a:schemeClr val="tx1"/>
                </a:solidFill>
              </a:rPr>
              <a:t>Google Drive, Box or Dropbox: sync plus file version history.</a:t>
            </a:r>
            <a:endParaRPr lang="en-US" sz="1600" dirty="0"/>
          </a:p>
        </p:txBody>
      </p:sp>
      <p:sp>
        <p:nvSpPr>
          <p:cNvPr id="13" name="card"/>
          <p:cNvSpPr/>
          <p:nvPr/>
        </p:nvSpPr>
        <p:spPr>
          <a:xfrm>
            <a:off x="8046720" y="1600200"/>
            <a:ext cx="3429000" cy="3108960"/>
          </a:xfrm>
          <a:prstGeom prst="roundRect">
            <a:avLst>
              <a:gd name="adj" fmla="val 3529"/>
            </a:avLst>
          </a:prstGeom>
          <a:solidFill>
            <a:srgbClr val="E6EAEE"/>
          </a:solidFill>
          <a:ln w="12700">
            <a:solidFill>
              <a:srgbClr val="E6EAEE"/>
            </a:solidFill>
            <a:prstDash val="solid"/>
          </a:ln>
        </p:spPr>
        <p:txBody>
          <a:bodyPr/>
          <a:lstStyle/>
          <a:p>
            <a:endParaRPr lang="en-US"/>
          </a:p>
        </p:txBody>
      </p:sp>
      <p:sp>
        <p:nvSpPr>
          <p:cNvPr id="14" name="icon circle"/>
          <p:cNvSpPr/>
          <p:nvPr/>
        </p:nvSpPr>
        <p:spPr>
          <a:xfrm>
            <a:off x="8366760" y="1920240"/>
            <a:ext cx="868680" cy="868680"/>
          </a:xfrm>
          <a:prstGeom prst="ellipse">
            <a:avLst/>
          </a:prstGeom>
          <a:solidFill>
            <a:srgbClr val="FFBF00"/>
          </a:solidFill>
          <a:ln w="12700">
            <a:solidFill>
              <a:srgbClr val="FFBF00"/>
            </a:solidFill>
            <a:prstDash val="solid"/>
          </a:ln>
        </p:spPr>
        <p:txBody>
          <a:bodyPr/>
          <a:lstStyle/>
          <a:p>
            <a:endParaRPr lang="en-US"/>
          </a:p>
        </p:txBody>
      </p:sp>
      <p:pic>
        <p:nvPicPr>
          <p:cNvPr id="15" name="icon" descr="preencoded.png"/>
          <p:cNvPicPr>
            <a:picLocks noChangeAspect="1"/>
          </p:cNvPicPr>
          <p:nvPr/>
        </p:nvPicPr>
        <p:blipFill>
          <a:blip r:embed="rId5"/>
          <a:stretch>
            <a:fillRect/>
          </a:stretch>
        </p:blipFill>
        <p:spPr>
          <a:xfrm>
            <a:off x="8583930" y="2137410"/>
            <a:ext cx="434340" cy="434340"/>
          </a:xfrm>
          <a:prstGeom prst="rect">
            <a:avLst/>
          </a:prstGeom>
        </p:spPr>
      </p:pic>
      <p:sp>
        <p:nvSpPr>
          <p:cNvPr id="16" name="Text 11"/>
          <p:cNvSpPr txBox="1"/>
          <p:nvPr/>
        </p:nvSpPr>
        <p:spPr>
          <a:xfrm>
            <a:off x="8366760" y="2971800"/>
            <a:ext cx="2834640" cy="502920"/>
          </a:xfrm>
          <a:prstGeom prst="rect">
            <a:avLst/>
          </a:prstGeom>
          <a:noFill/>
          <a:ln/>
        </p:spPr>
        <p:txBody>
          <a:bodyPr wrap="square" lIns="0" tIns="0" rIns="0" bIns="0" rtlCol="0" anchor="t"/>
          <a:lstStyle/>
          <a:p>
            <a:pPr marL="0" indent="0">
              <a:buNone/>
            </a:pPr>
            <a:r>
              <a:rPr lang="en-US" sz="2100" b="1" dirty="0">
                <a:solidFill>
                  <a:srgbClr val="022851"/>
                </a:solidFill>
              </a:rPr>
              <a:t>External hard disk</a:t>
            </a:r>
            <a:endParaRPr lang="en-US" sz="2100" dirty="0"/>
          </a:p>
        </p:txBody>
      </p:sp>
      <p:sp>
        <p:nvSpPr>
          <p:cNvPr id="17" name="Text 12"/>
          <p:cNvSpPr txBox="1"/>
          <p:nvPr/>
        </p:nvSpPr>
        <p:spPr>
          <a:xfrm>
            <a:off x="8366760" y="3520440"/>
            <a:ext cx="2834640" cy="1005840"/>
          </a:xfrm>
          <a:prstGeom prst="rect">
            <a:avLst/>
          </a:prstGeom>
          <a:noFill/>
          <a:ln/>
        </p:spPr>
        <p:txBody>
          <a:bodyPr wrap="square" lIns="0" tIns="0" rIns="0" bIns="0" rtlCol="0" anchor="t"/>
          <a:lstStyle/>
          <a:p>
            <a:pPr marL="0" indent="0">
              <a:buNone/>
            </a:pPr>
            <a:r>
              <a:rPr lang="en-US" sz="1600" dirty="0">
                <a:solidFill>
                  <a:schemeClr val="tx1"/>
                </a:solidFill>
              </a:rPr>
              <a:t>A local copy that doesn't need the internet.</a:t>
            </a:r>
            <a:endParaRPr lang="en-US" sz="1600" dirty="0"/>
          </a:p>
        </p:txBody>
      </p:sp>
      <p:sp>
        <p:nvSpPr>
          <p:cNvPr id="18" name="card"/>
          <p:cNvSpPr/>
          <p:nvPr/>
        </p:nvSpPr>
        <p:spPr>
          <a:xfrm>
            <a:off x="640080" y="5029200"/>
            <a:ext cx="10881360" cy="868680"/>
          </a:xfrm>
          <a:prstGeom prst="roundRect">
            <a:avLst>
              <a:gd name="adj" fmla="val 12632"/>
            </a:avLst>
          </a:prstGeom>
          <a:solidFill>
            <a:srgbClr val="FFF2CC"/>
          </a:solidFill>
          <a:ln w="12700">
            <a:solidFill>
              <a:srgbClr val="FFF2CC"/>
            </a:solidFill>
            <a:prstDash val="solid"/>
          </a:ln>
        </p:spPr>
        <p:txBody>
          <a:bodyPr/>
          <a:lstStyle/>
          <a:p>
            <a:endParaRPr lang="en-US"/>
          </a:p>
        </p:txBody>
      </p:sp>
      <p:sp>
        <p:nvSpPr>
          <p:cNvPr id="19" name="Text 14"/>
          <p:cNvSpPr txBox="1"/>
          <p:nvPr/>
        </p:nvSpPr>
        <p:spPr>
          <a:xfrm>
            <a:off x="914400" y="5029200"/>
            <a:ext cx="10424160" cy="868680"/>
          </a:xfrm>
          <a:prstGeom prst="rect">
            <a:avLst/>
          </a:prstGeom>
          <a:noFill/>
          <a:ln/>
        </p:spPr>
        <p:txBody>
          <a:bodyPr wrap="square" lIns="0" tIns="0" rIns="0" bIns="0" rtlCol="0" anchor="ctr"/>
          <a:lstStyle/>
          <a:p>
            <a:pPr marL="0" indent="0">
              <a:buNone/>
            </a:pPr>
            <a:r>
              <a:rPr lang="en-US" sz="1600" b="1" dirty="0">
                <a:solidFill>
                  <a:srgbClr val="022851"/>
                </a:solidFill>
              </a:rPr>
              <a:t>In this course: </a:t>
            </a:r>
            <a:r>
              <a:rPr lang="en-US" sz="1600" dirty="0">
                <a:solidFill>
                  <a:schemeClr val="tx1"/>
                </a:solidFill>
              </a:rPr>
              <a:t>save notebooks to your own branch of the EpiPandit/MPM_200 repository. Never to main.</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A reproducibility checklist</a:t>
            </a:r>
            <a:endParaRPr lang="en-US" sz="3400" dirty="0"/>
          </a:p>
        </p:txBody>
      </p:sp>
      <p:pic>
        <p:nvPicPr>
          <p:cNvPr id="3" name="checklist figure" descr="image7.jpeg"/>
          <p:cNvPicPr>
            <a:picLocks noChangeAspect="1"/>
          </p:cNvPicPr>
          <p:nvPr/>
        </p:nvPicPr>
        <p:blipFill>
          <a:blip r:embed="rId3"/>
          <a:stretch>
            <a:fillRect/>
          </a:stretch>
        </p:blipFill>
        <p:spPr>
          <a:xfrm>
            <a:off x="7680960" y="1325880"/>
            <a:ext cx="3794760" cy="4818888"/>
          </a:xfrm>
          <a:prstGeom prst="rect">
            <a:avLst/>
          </a:prstGeom>
        </p:spPr>
      </p:pic>
      <p:sp>
        <p:nvSpPr>
          <p:cNvPr id="4" name="step"/>
          <p:cNvSpPr/>
          <p:nvPr/>
        </p:nvSpPr>
        <p:spPr>
          <a:xfrm>
            <a:off x="640080" y="1554480"/>
            <a:ext cx="548640" cy="548640"/>
          </a:xfrm>
          <a:prstGeom prst="ellipse">
            <a:avLst/>
          </a:prstGeom>
          <a:solidFill>
            <a:srgbClr val="022851"/>
          </a:solidFill>
          <a:ln w="12700">
            <a:solidFill>
              <a:srgbClr val="022851"/>
            </a:solidFill>
            <a:prstDash val="solid"/>
          </a:ln>
        </p:spPr>
        <p:txBody>
          <a:bodyPr/>
          <a:lstStyle/>
          <a:p>
            <a:endParaRPr lang="en-US"/>
          </a:p>
        </p:txBody>
      </p:sp>
      <p:sp>
        <p:nvSpPr>
          <p:cNvPr id="5" name="Text 2"/>
          <p:cNvSpPr txBox="1"/>
          <p:nvPr/>
        </p:nvSpPr>
        <p:spPr>
          <a:xfrm>
            <a:off x="640080" y="15544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6" name="Text 3"/>
          <p:cNvSpPr txBox="1"/>
          <p:nvPr/>
        </p:nvSpPr>
        <p:spPr>
          <a:xfrm>
            <a:off x="1417320" y="1536192"/>
            <a:ext cx="5852160" cy="457200"/>
          </a:xfrm>
          <a:prstGeom prst="rect">
            <a:avLst/>
          </a:prstGeom>
          <a:noFill/>
          <a:ln/>
        </p:spPr>
        <p:txBody>
          <a:bodyPr wrap="square" lIns="0" tIns="0" rIns="0" bIns="0" rtlCol="0" anchor="t"/>
          <a:lstStyle/>
          <a:p>
            <a:pPr marL="0" indent="0">
              <a:buNone/>
            </a:pPr>
            <a:r>
              <a:rPr lang="en-US" sz="2000" b="1" dirty="0">
                <a:solidFill>
                  <a:srgbClr val="022851"/>
                </a:solidFill>
              </a:rPr>
              <a:t>Before analysis</a:t>
            </a:r>
            <a:endParaRPr lang="en-US" sz="2000" dirty="0"/>
          </a:p>
        </p:txBody>
      </p:sp>
      <p:sp>
        <p:nvSpPr>
          <p:cNvPr id="7" name="Text 4"/>
          <p:cNvSpPr txBox="1"/>
          <p:nvPr/>
        </p:nvSpPr>
        <p:spPr>
          <a:xfrm>
            <a:off x="1417320" y="2011680"/>
            <a:ext cx="5852160" cy="731520"/>
          </a:xfrm>
          <a:prstGeom prst="rect">
            <a:avLst/>
          </a:prstGeom>
          <a:noFill/>
          <a:ln/>
        </p:spPr>
        <p:txBody>
          <a:bodyPr wrap="square" lIns="0" tIns="0" rIns="0" bIns="0" rtlCol="0" anchor="t"/>
          <a:lstStyle/>
          <a:p>
            <a:pPr marL="0" indent="0">
              <a:buNone/>
            </a:pPr>
            <a:r>
              <a:rPr lang="en-US" sz="1600" dirty="0">
                <a:solidFill>
                  <a:schemeClr val="tx1"/>
                </a:solidFill>
              </a:rPr>
              <a:t>Raw data backed up in several places, in open formats, with metadata.</a:t>
            </a:r>
            <a:endParaRPr lang="en-US" sz="1600" dirty="0"/>
          </a:p>
        </p:txBody>
      </p:sp>
      <p:sp>
        <p:nvSpPr>
          <p:cNvPr id="8" name="step"/>
          <p:cNvSpPr/>
          <p:nvPr/>
        </p:nvSpPr>
        <p:spPr>
          <a:xfrm>
            <a:off x="640080" y="2971800"/>
            <a:ext cx="548640" cy="548640"/>
          </a:xfrm>
          <a:prstGeom prst="ellipse">
            <a:avLst/>
          </a:prstGeom>
          <a:solidFill>
            <a:srgbClr val="022851"/>
          </a:solidFill>
          <a:ln w="12700">
            <a:solidFill>
              <a:srgbClr val="022851"/>
            </a:solidFill>
            <a:prstDash val="solid"/>
          </a:ln>
        </p:spPr>
        <p:txBody>
          <a:bodyPr/>
          <a:lstStyle/>
          <a:p>
            <a:endParaRPr lang="en-US"/>
          </a:p>
        </p:txBody>
      </p:sp>
      <p:sp>
        <p:nvSpPr>
          <p:cNvPr id="9" name="Text 6"/>
          <p:cNvSpPr txBox="1"/>
          <p:nvPr/>
        </p:nvSpPr>
        <p:spPr>
          <a:xfrm>
            <a:off x="640080" y="2971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0" name="Text 7"/>
          <p:cNvSpPr txBox="1"/>
          <p:nvPr/>
        </p:nvSpPr>
        <p:spPr>
          <a:xfrm>
            <a:off x="1417320" y="2953512"/>
            <a:ext cx="5852160" cy="457200"/>
          </a:xfrm>
          <a:prstGeom prst="rect">
            <a:avLst/>
          </a:prstGeom>
          <a:noFill/>
          <a:ln/>
        </p:spPr>
        <p:txBody>
          <a:bodyPr wrap="square" lIns="0" tIns="0" rIns="0" bIns="0" rtlCol="0" anchor="t"/>
          <a:lstStyle/>
          <a:p>
            <a:pPr marL="0" indent="0">
              <a:buNone/>
            </a:pPr>
            <a:r>
              <a:rPr lang="en-US" sz="2000" b="1" dirty="0">
                <a:solidFill>
                  <a:srgbClr val="022851"/>
                </a:solidFill>
              </a:rPr>
              <a:t>During analysis</a:t>
            </a:r>
            <a:endParaRPr lang="en-US" sz="2000" dirty="0"/>
          </a:p>
        </p:txBody>
      </p:sp>
      <p:sp>
        <p:nvSpPr>
          <p:cNvPr id="11" name="Text 8"/>
          <p:cNvSpPr txBox="1"/>
          <p:nvPr/>
        </p:nvSpPr>
        <p:spPr>
          <a:xfrm>
            <a:off x="1417320" y="3429000"/>
            <a:ext cx="5852160" cy="731520"/>
          </a:xfrm>
          <a:prstGeom prst="rect">
            <a:avLst/>
          </a:prstGeom>
          <a:noFill/>
          <a:ln/>
        </p:spPr>
        <p:txBody>
          <a:bodyPr wrap="square" lIns="0" tIns="0" rIns="0" bIns="0" rtlCol="0" anchor="t"/>
          <a:lstStyle/>
          <a:p>
            <a:pPr marL="0" indent="0">
              <a:buNone/>
            </a:pPr>
            <a:r>
              <a:rPr lang="en-US" sz="1600" dirty="0">
                <a:solidFill>
                  <a:schemeClr val="tx1"/>
                </a:solidFill>
              </a:rPr>
              <a:t>Code clean, commented, reviewed by a colleague; software versions documented.</a:t>
            </a:r>
            <a:endParaRPr lang="en-US" sz="1600" dirty="0"/>
          </a:p>
        </p:txBody>
      </p:sp>
      <p:sp>
        <p:nvSpPr>
          <p:cNvPr id="12" name="step"/>
          <p:cNvSpPr/>
          <p:nvPr/>
        </p:nvSpPr>
        <p:spPr>
          <a:xfrm>
            <a:off x="640080" y="4389120"/>
            <a:ext cx="548640" cy="548640"/>
          </a:xfrm>
          <a:prstGeom prst="ellipse">
            <a:avLst/>
          </a:prstGeom>
          <a:solidFill>
            <a:srgbClr val="022851"/>
          </a:solidFill>
          <a:ln w="12700">
            <a:solidFill>
              <a:srgbClr val="022851"/>
            </a:solidFill>
            <a:prstDash val="solid"/>
          </a:ln>
        </p:spPr>
        <p:txBody>
          <a:bodyPr/>
          <a:lstStyle/>
          <a:p>
            <a:endParaRPr lang="en-US"/>
          </a:p>
        </p:txBody>
      </p:sp>
      <p:sp>
        <p:nvSpPr>
          <p:cNvPr id="13" name="Text 10"/>
          <p:cNvSpPr txBox="1"/>
          <p:nvPr/>
        </p:nvSpPr>
        <p:spPr>
          <a:xfrm>
            <a:off x="640080" y="43891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4" name="Text 11"/>
          <p:cNvSpPr txBox="1"/>
          <p:nvPr/>
        </p:nvSpPr>
        <p:spPr>
          <a:xfrm>
            <a:off x="1417320" y="4370832"/>
            <a:ext cx="5852160" cy="457200"/>
          </a:xfrm>
          <a:prstGeom prst="rect">
            <a:avLst/>
          </a:prstGeom>
          <a:noFill/>
          <a:ln/>
        </p:spPr>
        <p:txBody>
          <a:bodyPr wrap="square" lIns="0" tIns="0" rIns="0" bIns="0" rtlCol="0" anchor="t"/>
          <a:lstStyle/>
          <a:p>
            <a:pPr marL="0" indent="0">
              <a:buNone/>
            </a:pPr>
            <a:r>
              <a:rPr lang="en-US" sz="2000" b="1" dirty="0">
                <a:solidFill>
                  <a:srgbClr val="022851"/>
                </a:solidFill>
              </a:rPr>
              <a:t>After analysis</a:t>
            </a:r>
            <a:endParaRPr lang="en-US" sz="2000" dirty="0"/>
          </a:p>
        </p:txBody>
      </p:sp>
      <p:sp>
        <p:nvSpPr>
          <p:cNvPr id="15" name="Text 12"/>
          <p:cNvSpPr txBox="1"/>
          <p:nvPr/>
        </p:nvSpPr>
        <p:spPr>
          <a:xfrm>
            <a:off x="1417320" y="4846320"/>
            <a:ext cx="5852160" cy="731520"/>
          </a:xfrm>
          <a:prstGeom prst="rect">
            <a:avLst/>
          </a:prstGeom>
          <a:noFill/>
          <a:ln/>
        </p:spPr>
        <p:txBody>
          <a:bodyPr wrap="square" lIns="0" tIns="0" rIns="0" bIns="0" rtlCol="0" anchor="t"/>
          <a:lstStyle/>
          <a:p>
            <a:pPr marL="0" indent="0">
              <a:buNone/>
            </a:pPr>
            <a:r>
              <a:rPr lang="en-US" sz="1600" dirty="0">
                <a:solidFill>
                  <a:schemeClr val="tx1"/>
                </a:solidFill>
              </a:rPr>
              <a:t>Clear instructions to find data and code; shared together at a permanent site.</a:t>
            </a:r>
            <a:endParaRPr lang="en-US" sz="1600" dirty="0"/>
          </a:p>
        </p:txBody>
      </p:sp>
      <p:sp>
        <p:nvSpPr>
          <p:cNvPr id="16" name="Text 13"/>
          <p:cNvSpPr txBox="1"/>
          <p:nvPr/>
        </p:nvSpPr>
        <p:spPr>
          <a:xfrm>
            <a:off x="640080" y="5760720"/>
            <a:ext cx="6766560" cy="365760"/>
          </a:xfrm>
          <a:prstGeom prst="rect">
            <a:avLst/>
          </a:prstGeom>
          <a:noFill/>
          <a:ln/>
        </p:spPr>
        <p:txBody>
          <a:bodyPr wrap="square" lIns="0" tIns="0" rIns="0" bIns="0" rtlCol="0" anchor="t"/>
          <a:lstStyle/>
          <a:p>
            <a:pPr marL="0" indent="0">
              <a:buNone/>
            </a:pPr>
            <a:r>
              <a:rPr lang="en-US" sz="1100" i="1" dirty="0">
                <a:solidFill>
                  <a:srgbClr val="5B6770"/>
                </a:solidFill>
              </a:rPr>
              <a:t>Figure: Alston JM &amp; Rick JA (2021). Bull Ecol Soc Am 102(2):e01801. doi:10.1002/bes2.1801</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194560"/>
            <a:ext cx="7498080" cy="1371600"/>
          </a:xfrm>
          <a:prstGeom prst="rect">
            <a:avLst/>
          </a:prstGeom>
          <a:noFill/>
          <a:ln/>
        </p:spPr>
        <p:txBody>
          <a:bodyPr wrap="square" lIns="0" tIns="0" rIns="0" bIns="0" rtlCol="0" anchor="b"/>
          <a:lstStyle/>
          <a:p>
            <a:pPr marL="0" indent="0" algn="l">
              <a:buNone/>
            </a:pPr>
            <a:r>
              <a:rPr lang="en-US" sz="4000" b="1" dirty="0">
                <a:solidFill>
                  <a:srgbClr val="FFFFFF"/>
                </a:solidFill>
              </a:rPr>
              <a:t>Your coding environment: Google Colab</a:t>
            </a:r>
            <a:endParaRPr lang="en-US" sz="4000" dirty="0"/>
          </a:p>
        </p:txBody>
      </p:sp>
      <p:sp>
        <p:nvSpPr>
          <p:cNvPr id="3" name="Text 0"/>
          <p:cNvSpPr>
            <a:spLocks noGrp="1"/>
          </p:cNvSpPr>
          <p:nvPr>
            <p:ph type="body" idx="101" hasCustomPrompt="1"/>
          </p:nvPr>
        </p:nvSpPr>
        <p:spPr>
          <a:xfrm>
            <a:off x="640080" y="3749040"/>
            <a:ext cx="7498080" cy="1280160"/>
          </a:xfrm>
          <a:prstGeom prst="rect">
            <a:avLst/>
          </a:prstGeom>
          <a:noFill/>
          <a:ln/>
        </p:spPr>
        <p:txBody>
          <a:bodyPr wrap="square" lIns="0" tIns="0" rIns="0" bIns="0" rtlCol="0" anchor="t"/>
          <a:lstStyle/>
          <a:p>
            <a:pPr marL="0" indent="0">
              <a:buNone/>
            </a:pPr>
            <a:r>
              <a:rPr lang="en-US" sz="1800" dirty="0">
                <a:solidFill>
                  <a:srgbClr val="FFBF00"/>
                </a:solidFill>
              </a:rPr>
              <a:t>R in the browser. Nothing to install, easy to share.</a:t>
            </a:r>
            <a:endParaRPr lang="en-US" sz="1800" dirty="0"/>
          </a:p>
        </p:txBody>
      </p:sp>
      <p:pic>
        <p:nvPicPr>
          <p:cNvPr id="4" name="laptop icon" descr="preencoded.png"/>
          <p:cNvPicPr>
            <a:picLocks noChangeAspect="1"/>
          </p:cNvPicPr>
          <p:nvPr/>
        </p:nvPicPr>
        <p:blipFill>
          <a:blip r:embed="rId3"/>
          <a:stretch>
            <a:fillRect/>
          </a:stretch>
        </p:blipFill>
        <p:spPr>
          <a:xfrm>
            <a:off x="9052560" y="2103120"/>
            <a:ext cx="2194560" cy="2194560"/>
          </a:xfrm>
          <a:prstGeom prst="rect">
            <a:avLst/>
          </a:prstGeom>
        </p:spPr>
      </p:pic>
      <p:sp>
        <p:nvSpPr>
          <p:cNvPr id="25" name="Slide Number Placeholder 0"/>
          <p:cNvSpPr>
            <a:spLocks noGrp="1"/>
          </p:cNvSpPr>
          <p:nvPr>
            <p:ph type="sldNum" sz="quarter" idx="4294967295"/>
          </p:nvPr>
        </p:nvSpPr>
        <p:spPr>
          <a:xfrm>
            <a:off x="1115568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FC0D3"/>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Get R running in Colab in five steps</a:t>
            </a:r>
            <a:endParaRPr lang="en-US" sz="3400" dirty="0"/>
          </a:p>
        </p:txBody>
      </p:sp>
      <p:sp>
        <p:nvSpPr>
          <p:cNvPr id="3" name="card"/>
          <p:cNvSpPr/>
          <p:nvPr/>
        </p:nvSpPr>
        <p:spPr>
          <a:xfrm>
            <a:off x="640080" y="1600200"/>
            <a:ext cx="2011680" cy="402336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4" name="step"/>
          <p:cNvSpPr/>
          <p:nvPr/>
        </p:nvSpPr>
        <p:spPr>
          <a:xfrm>
            <a:off x="868680" y="1828800"/>
            <a:ext cx="640080" cy="640080"/>
          </a:xfrm>
          <a:prstGeom prst="ellipse">
            <a:avLst/>
          </a:prstGeom>
          <a:solidFill>
            <a:srgbClr val="022851"/>
          </a:solidFill>
          <a:ln w="12700">
            <a:solidFill>
              <a:srgbClr val="022851"/>
            </a:solidFill>
            <a:prstDash val="solid"/>
          </a:ln>
        </p:spPr>
        <p:txBody>
          <a:bodyPr/>
          <a:lstStyle/>
          <a:p>
            <a:endParaRPr lang="en-US"/>
          </a:p>
        </p:txBody>
      </p:sp>
      <p:sp>
        <p:nvSpPr>
          <p:cNvPr id="5" name="Text 3"/>
          <p:cNvSpPr txBox="1"/>
          <p:nvPr/>
        </p:nvSpPr>
        <p:spPr>
          <a:xfrm>
            <a:off x="868680" y="18288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6" name="Text 4"/>
          <p:cNvSpPr txBox="1"/>
          <p:nvPr/>
        </p:nvSpPr>
        <p:spPr>
          <a:xfrm>
            <a:off x="868680" y="2697480"/>
            <a:ext cx="1645920" cy="777240"/>
          </a:xfrm>
          <a:prstGeom prst="rect">
            <a:avLst/>
          </a:prstGeom>
          <a:noFill/>
          <a:ln/>
        </p:spPr>
        <p:txBody>
          <a:bodyPr wrap="square" lIns="0" tIns="0" rIns="0" bIns="0" rtlCol="0" anchor="t"/>
          <a:lstStyle/>
          <a:p>
            <a:pPr marL="0" indent="0">
              <a:buNone/>
            </a:pPr>
            <a:r>
              <a:rPr lang="en-US" sz="1900" b="1" dirty="0">
                <a:solidFill>
                  <a:srgbClr val="022851"/>
                </a:solidFill>
              </a:rPr>
              <a:t>Sign in</a:t>
            </a:r>
            <a:endParaRPr lang="en-US" sz="1900" dirty="0"/>
          </a:p>
        </p:txBody>
      </p:sp>
      <p:sp>
        <p:nvSpPr>
          <p:cNvPr id="7" name="Text 5"/>
          <p:cNvSpPr txBox="1"/>
          <p:nvPr/>
        </p:nvSpPr>
        <p:spPr>
          <a:xfrm>
            <a:off x="868680" y="3474720"/>
            <a:ext cx="1645920" cy="2011680"/>
          </a:xfrm>
          <a:prstGeom prst="rect">
            <a:avLst/>
          </a:prstGeom>
          <a:noFill/>
          <a:ln/>
        </p:spPr>
        <p:txBody>
          <a:bodyPr wrap="square" lIns="0" tIns="0" rIns="0" bIns="0" rtlCol="0" anchor="t"/>
          <a:lstStyle/>
          <a:p>
            <a:pPr marL="0" indent="0">
              <a:buNone/>
            </a:pPr>
            <a:r>
              <a:rPr lang="en-US" sz="1400" dirty="0">
                <a:solidFill>
                  <a:schemeClr val="tx1"/>
                </a:solidFill>
              </a:rPr>
              <a:t>Go to Google Colab with your UC Davis Google account</a:t>
            </a:r>
            <a:endParaRPr lang="en-US" sz="1400" dirty="0"/>
          </a:p>
        </p:txBody>
      </p:sp>
      <p:sp>
        <p:nvSpPr>
          <p:cNvPr id="8" name="card"/>
          <p:cNvSpPr/>
          <p:nvPr/>
        </p:nvSpPr>
        <p:spPr>
          <a:xfrm>
            <a:off x="2862072" y="1600200"/>
            <a:ext cx="2011680" cy="402336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9" name="step"/>
          <p:cNvSpPr/>
          <p:nvPr/>
        </p:nvSpPr>
        <p:spPr>
          <a:xfrm>
            <a:off x="3090672" y="1828800"/>
            <a:ext cx="640080" cy="640080"/>
          </a:xfrm>
          <a:prstGeom prst="ellipse">
            <a:avLst/>
          </a:prstGeom>
          <a:solidFill>
            <a:srgbClr val="022851"/>
          </a:solidFill>
          <a:ln w="12700">
            <a:solidFill>
              <a:srgbClr val="022851"/>
            </a:solidFill>
            <a:prstDash val="solid"/>
          </a:ln>
        </p:spPr>
        <p:txBody>
          <a:bodyPr/>
          <a:lstStyle/>
          <a:p>
            <a:endParaRPr lang="en-US"/>
          </a:p>
        </p:txBody>
      </p:sp>
      <p:sp>
        <p:nvSpPr>
          <p:cNvPr id="10" name="Text 8"/>
          <p:cNvSpPr txBox="1"/>
          <p:nvPr/>
        </p:nvSpPr>
        <p:spPr>
          <a:xfrm>
            <a:off x="3090672" y="18288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1" name="Text 9"/>
          <p:cNvSpPr txBox="1"/>
          <p:nvPr/>
        </p:nvSpPr>
        <p:spPr>
          <a:xfrm>
            <a:off x="3090672" y="2697480"/>
            <a:ext cx="1645920" cy="777240"/>
          </a:xfrm>
          <a:prstGeom prst="rect">
            <a:avLst/>
          </a:prstGeom>
          <a:noFill/>
          <a:ln/>
        </p:spPr>
        <p:txBody>
          <a:bodyPr wrap="square" lIns="0" tIns="0" rIns="0" bIns="0" rtlCol="0" anchor="t"/>
          <a:lstStyle/>
          <a:p>
            <a:pPr marL="0" indent="0">
              <a:buNone/>
            </a:pPr>
            <a:r>
              <a:rPr lang="en-US" sz="1900" b="1" dirty="0">
                <a:solidFill>
                  <a:srgbClr val="022851"/>
                </a:solidFill>
              </a:rPr>
              <a:t>Open the notebook</a:t>
            </a:r>
            <a:endParaRPr lang="en-US" sz="1900" dirty="0"/>
          </a:p>
        </p:txBody>
      </p:sp>
      <p:sp>
        <p:nvSpPr>
          <p:cNvPr id="12" name="Text 10"/>
          <p:cNvSpPr txBox="1"/>
          <p:nvPr/>
        </p:nvSpPr>
        <p:spPr>
          <a:xfrm>
            <a:off x="3090672" y="3474720"/>
            <a:ext cx="1645920" cy="2011680"/>
          </a:xfrm>
          <a:prstGeom prst="rect">
            <a:avLst/>
          </a:prstGeom>
          <a:noFill/>
          <a:ln/>
        </p:spPr>
        <p:txBody>
          <a:bodyPr wrap="square" lIns="0" tIns="0" rIns="0" bIns="0" rtlCol="0" anchor="t"/>
          <a:lstStyle/>
          <a:p>
            <a:pPr marL="0" indent="0">
              <a:buNone/>
            </a:pPr>
            <a:r>
              <a:rPr lang="en-US" sz="1400" dirty="0">
                <a:solidFill>
                  <a:schemeClr val="tx1"/>
                </a:solidFill>
              </a:rPr>
              <a:t>Click Open in Colab on the course GitHub, or File → New notebook in Drive</a:t>
            </a:r>
            <a:endParaRPr lang="en-US" sz="1400" dirty="0"/>
          </a:p>
        </p:txBody>
      </p:sp>
      <p:sp>
        <p:nvSpPr>
          <p:cNvPr id="13" name="card"/>
          <p:cNvSpPr/>
          <p:nvPr/>
        </p:nvSpPr>
        <p:spPr>
          <a:xfrm>
            <a:off x="5084064" y="1600200"/>
            <a:ext cx="2011680" cy="4023360"/>
          </a:xfrm>
          <a:prstGeom prst="roundRect">
            <a:avLst>
              <a:gd name="adj" fmla="val 5455"/>
            </a:avLst>
          </a:prstGeom>
          <a:solidFill>
            <a:srgbClr val="FFF2CC"/>
          </a:solidFill>
          <a:ln w="12700">
            <a:solidFill>
              <a:srgbClr val="FFF2CC"/>
            </a:solidFill>
            <a:prstDash val="solid"/>
          </a:ln>
        </p:spPr>
        <p:txBody>
          <a:bodyPr/>
          <a:lstStyle/>
          <a:p>
            <a:endParaRPr lang="en-US"/>
          </a:p>
        </p:txBody>
      </p:sp>
      <p:sp>
        <p:nvSpPr>
          <p:cNvPr id="14" name="step"/>
          <p:cNvSpPr/>
          <p:nvPr/>
        </p:nvSpPr>
        <p:spPr>
          <a:xfrm>
            <a:off x="5312664" y="1828800"/>
            <a:ext cx="640080" cy="640080"/>
          </a:xfrm>
          <a:prstGeom prst="ellipse">
            <a:avLst/>
          </a:prstGeom>
          <a:solidFill>
            <a:srgbClr val="022851"/>
          </a:solidFill>
          <a:ln w="12700">
            <a:solidFill>
              <a:srgbClr val="022851"/>
            </a:solidFill>
            <a:prstDash val="solid"/>
          </a:ln>
        </p:spPr>
        <p:txBody>
          <a:bodyPr/>
          <a:lstStyle/>
          <a:p>
            <a:endParaRPr lang="en-US"/>
          </a:p>
        </p:txBody>
      </p:sp>
      <p:sp>
        <p:nvSpPr>
          <p:cNvPr id="15" name="Text 13"/>
          <p:cNvSpPr txBox="1"/>
          <p:nvPr/>
        </p:nvSpPr>
        <p:spPr>
          <a:xfrm>
            <a:off x="5312664" y="18288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6" name="Text 14"/>
          <p:cNvSpPr txBox="1"/>
          <p:nvPr/>
        </p:nvSpPr>
        <p:spPr>
          <a:xfrm>
            <a:off x="5312664" y="2697480"/>
            <a:ext cx="1645920" cy="777240"/>
          </a:xfrm>
          <a:prstGeom prst="rect">
            <a:avLst/>
          </a:prstGeom>
          <a:noFill/>
          <a:ln/>
        </p:spPr>
        <p:txBody>
          <a:bodyPr wrap="square" lIns="0" tIns="0" rIns="0" bIns="0" rtlCol="0" anchor="t"/>
          <a:lstStyle/>
          <a:p>
            <a:pPr marL="0" indent="0">
              <a:buNone/>
            </a:pPr>
            <a:r>
              <a:rPr lang="en-US" sz="1900" b="1" dirty="0">
                <a:solidFill>
                  <a:srgbClr val="022851"/>
                </a:solidFill>
              </a:rPr>
              <a:t>Switch to R</a:t>
            </a:r>
            <a:endParaRPr lang="en-US" sz="1900" dirty="0"/>
          </a:p>
        </p:txBody>
      </p:sp>
      <p:sp>
        <p:nvSpPr>
          <p:cNvPr id="17" name="Text 15"/>
          <p:cNvSpPr txBox="1"/>
          <p:nvPr/>
        </p:nvSpPr>
        <p:spPr>
          <a:xfrm>
            <a:off x="5312664" y="3474720"/>
            <a:ext cx="1645920" cy="2011680"/>
          </a:xfrm>
          <a:prstGeom prst="rect">
            <a:avLst/>
          </a:prstGeom>
          <a:noFill/>
          <a:ln/>
        </p:spPr>
        <p:txBody>
          <a:bodyPr wrap="square" lIns="0" tIns="0" rIns="0" bIns="0" rtlCol="0" anchor="t"/>
          <a:lstStyle/>
          <a:p>
            <a:pPr marL="0" indent="0">
              <a:buNone/>
            </a:pPr>
            <a:r>
              <a:rPr lang="en-US" sz="1400" dirty="0">
                <a:solidFill>
                  <a:schemeClr val="tx1"/>
                </a:solidFill>
              </a:rPr>
              <a:t>Runtime → Change runtime type → R. Leave hardware on CPU.</a:t>
            </a:r>
            <a:endParaRPr lang="en-US" sz="1400" dirty="0"/>
          </a:p>
        </p:txBody>
      </p:sp>
      <p:sp>
        <p:nvSpPr>
          <p:cNvPr id="18" name="card"/>
          <p:cNvSpPr/>
          <p:nvPr/>
        </p:nvSpPr>
        <p:spPr>
          <a:xfrm>
            <a:off x="7306056" y="1600200"/>
            <a:ext cx="2011680" cy="402336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19" name="step"/>
          <p:cNvSpPr/>
          <p:nvPr/>
        </p:nvSpPr>
        <p:spPr>
          <a:xfrm>
            <a:off x="7534656" y="1828800"/>
            <a:ext cx="640080" cy="640080"/>
          </a:xfrm>
          <a:prstGeom prst="ellipse">
            <a:avLst/>
          </a:prstGeom>
          <a:solidFill>
            <a:srgbClr val="022851"/>
          </a:solidFill>
          <a:ln w="12700">
            <a:solidFill>
              <a:srgbClr val="022851"/>
            </a:solidFill>
            <a:prstDash val="solid"/>
          </a:ln>
        </p:spPr>
        <p:txBody>
          <a:bodyPr/>
          <a:lstStyle/>
          <a:p>
            <a:endParaRPr lang="en-US"/>
          </a:p>
        </p:txBody>
      </p:sp>
      <p:sp>
        <p:nvSpPr>
          <p:cNvPr id="20" name="Text 18"/>
          <p:cNvSpPr txBox="1"/>
          <p:nvPr/>
        </p:nvSpPr>
        <p:spPr>
          <a:xfrm>
            <a:off x="7534656" y="18288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21" name="Text 19"/>
          <p:cNvSpPr txBox="1"/>
          <p:nvPr/>
        </p:nvSpPr>
        <p:spPr>
          <a:xfrm>
            <a:off x="7534656" y="2697480"/>
            <a:ext cx="1645920" cy="777240"/>
          </a:xfrm>
          <a:prstGeom prst="rect">
            <a:avLst/>
          </a:prstGeom>
          <a:noFill/>
          <a:ln/>
        </p:spPr>
        <p:txBody>
          <a:bodyPr wrap="square" lIns="0" tIns="0" rIns="0" bIns="0" rtlCol="0" anchor="t"/>
          <a:lstStyle/>
          <a:p>
            <a:pPr marL="0" indent="0">
              <a:buNone/>
            </a:pPr>
            <a:r>
              <a:rPr lang="en-US" sz="1900" b="1" dirty="0">
                <a:solidFill>
                  <a:srgbClr val="022851"/>
                </a:solidFill>
              </a:rPr>
              <a:t>Load packages</a:t>
            </a:r>
            <a:endParaRPr lang="en-US" sz="1900" dirty="0"/>
          </a:p>
        </p:txBody>
      </p:sp>
      <p:sp>
        <p:nvSpPr>
          <p:cNvPr id="22" name="Text 20"/>
          <p:cNvSpPr txBox="1"/>
          <p:nvPr/>
        </p:nvSpPr>
        <p:spPr>
          <a:xfrm>
            <a:off x="7534656" y="3474720"/>
            <a:ext cx="1645920" cy="2011680"/>
          </a:xfrm>
          <a:prstGeom prst="rect">
            <a:avLst/>
          </a:prstGeom>
          <a:noFill/>
          <a:ln/>
        </p:spPr>
        <p:txBody>
          <a:bodyPr wrap="square" lIns="0" tIns="0" rIns="0" bIns="0" rtlCol="0" anchor="t"/>
          <a:lstStyle/>
          <a:p>
            <a:pPr marL="0" indent="0">
              <a:buNone/>
            </a:pPr>
            <a:r>
              <a:rPr lang="en-US" sz="1400" dirty="0">
                <a:solidFill>
                  <a:schemeClr val="tx1"/>
                </a:solidFill>
              </a:rPr>
              <a:t>install.packages() and library() at the start of every session</a:t>
            </a:r>
            <a:endParaRPr lang="en-US" sz="1400" dirty="0"/>
          </a:p>
        </p:txBody>
      </p:sp>
      <p:sp>
        <p:nvSpPr>
          <p:cNvPr id="23" name="card"/>
          <p:cNvSpPr/>
          <p:nvPr/>
        </p:nvSpPr>
        <p:spPr>
          <a:xfrm>
            <a:off x="9528048" y="1600200"/>
            <a:ext cx="2011680" cy="402336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24" name="step"/>
          <p:cNvSpPr/>
          <p:nvPr/>
        </p:nvSpPr>
        <p:spPr>
          <a:xfrm>
            <a:off x="9756648" y="1828800"/>
            <a:ext cx="640080" cy="640080"/>
          </a:xfrm>
          <a:prstGeom prst="ellipse">
            <a:avLst/>
          </a:prstGeom>
          <a:solidFill>
            <a:srgbClr val="022851"/>
          </a:solidFill>
          <a:ln w="12700">
            <a:solidFill>
              <a:srgbClr val="022851"/>
            </a:solidFill>
            <a:prstDash val="solid"/>
          </a:ln>
        </p:spPr>
        <p:txBody>
          <a:bodyPr/>
          <a:lstStyle/>
          <a:p>
            <a:endParaRPr lang="en-US"/>
          </a:p>
        </p:txBody>
      </p:sp>
      <p:sp>
        <p:nvSpPr>
          <p:cNvPr id="25" name="Text 23"/>
          <p:cNvSpPr txBox="1"/>
          <p:nvPr/>
        </p:nvSpPr>
        <p:spPr>
          <a:xfrm>
            <a:off x="9756648" y="18288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26" name="Text 24"/>
          <p:cNvSpPr txBox="1"/>
          <p:nvPr/>
        </p:nvSpPr>
        <p:spPr>
          <a:xfrm>
            <a:off x="9756648" y="2697480"/>
            <a:ext cx="1645920" cy="777240"/>
          </a:xfrm>
          <a:prstGeom prst="rect">
            <a:avLst/>
          </a:prstGeom>
          <a:noFill/>
          <a:ln/>
        </p:spPr>
        <p:txBody>
          <a:bodyPr wrap="square" lIns="0" tIns="0" rIns="0" bIns="0" rtlCol="0" anchor="t"/>
          <a:lstStyle/>
          <a:p>
            <a:pPr marL="0" indent="0">
              <a:buNone/>
            </a:pPr>
            <a:r>
              <a:rPr lang="en-US" sz="1900" b="1" dirty="0">
                <a:solidFill>
                  <a:srgbClr val="022851"/>
                </a:solidFill>
              </a:rPr>
              <a:t>Save your work</a:t>
            </a:r>
            <a:endParaRPr lang="en-US" sz="1900" dirty="0"/>
          </a:p>
        </p:txBody>
      </p:sp>
      <p:sp>
        <p:nvSpPr>
          <p:cNvPr id="27" name="Text 25"/>
          <p:cNvSpPr txBox="1"/>
          <p:nvPr/>
        </p:nvSpPr>
        <p:spPr>
          <a:xfrm>
            <a:off x="9756648" y="3474720"/>
            <a:ext cx="1645920" cy="2011680"/>
          </a:xfrm>
          <a:prstGeom prst="rect">
            <a:avLst/>
          </a:prstGeom>
          <a:noFill/>
          <a:ln/>
        </p:spPr>
        <p:txBody>
          <a:bodyPr wrap="square" lIns="0" tIns="0" rIns="0" bIns="0" rtlCol="0" anchor="t"/>
          <a:lstStyle/>
          <a:p>
            <a:pPr marL="0" indent="0">
              <a:buNone/>
            </a:pPr>
            <a:r>
              <a:rPr lang="en-US" sz="1400" dirty="0">
                <a:solidFill>
                  <a:schemeClr val="tx1"/>
                </a:solidFill>
              </a:rPr>
              <a:t>File → Save a copy in GitHub, to your own branch. Date-stamp the file name.</a:t>
            </a:r>
            <a:endParaRPr lang="en-US" sz="1400" dirty="0"/>
          </a:p>
        </p:txBody>
      </p:sp>
      <p:sp>
        <p:nvSpPr>
          <p:cNvPr id="28" name="Text 26"/>
          <p:cNvSpPr txBox="1"/>
          <p:nvPr/>
        </p:nvSpPr>
        <p:spPr>
          <a:xfrm>
            <a:off x="640080" y="5806440"/>
            <a:ext cx="10881360" cy="365760"/>
          </a:xfrm>
          <a:prstGeom prst="rect">
            <a:avLst/>
          </a:prstGeom>
          <a:noFill/>
          <a:ln/>
        </p:spPr>
        <p:txBody>
          <a:bodyPr wrap="square" lIns="0" tIns="0" rIns="0" bIns="0" rtlCol="0" anchor="t"/>
          <a:lstStyle/>
          <a:p>
            <a:pPr marL="0" indent="0">
              <a:buNone/>
            </a:pPr>
            <a:r>
              <a:rPr lang="en-US" sz="1300" i="1" dirty="0">
                <a:solidFill>
                  <a:srgbClr val="5B6770"/>
                </a:solidFill>
              </a:rPr>
              <a:t>Full walkthrough: Google Colab Setup Instructions.pdf on the course GitHub</a:t>
            </a:r>
            <a:endParaRPr lang="en-US" sz="1300" dirty="0"/>
          </a:p>
        </p:txBody>
      </p:sp>
      <p:sp>
        <p:nvSpPr>
          <p:cNvPr id="29"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Colab gotchas (save yourself an hour)</a:t>
            </a:r>
            <a:endParaRPr lang="en-US" sz="3400" dirty="0"/>
          </a:p>
        </p:txBody>
      </p:sp>
      <p:sp>
        <p:nvSpPr>
          <p:cNvPr id="3" name="card"/>
          <p:cNvSpPr/>
          <p:nvPr/>
        </p:nvSpPr>
        <p:spPr>
          <a:xfrm>
            <a:off x="640080" y="1554480"/>
            <a:ext cx="5349240" cy="201168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4" name="icon circle"/>
          <p:cNvSpPr/>
          <p:nvPr/>
        </p:nvSpPr>
        <p:spPr>
          <a:xfrm>
            <a:off x="960120" y="1874520"/>
            <a:ext cx="777240" cy="777240"/>
          </a:xfrm>
          <a:prstGeom prst="ellipse">
            <a:avLst/>
          </a:prstGeom>
          <a:solidFill>
            <a:srgbClr val="FFBF00"/>
          </a:solidFill>
          <a:ln w="12700">
            <a:solidFill>
              <a:srgbClr val="FFBF00"/>
            </a:solidFill>
            <a:prstDash val="solid"/>
          </a:ln>
        </p:spPr>
        <p:txBody>
          <a:bodyPr/>
          <a:lstStyle/>
          <a:p>
            <a:endParaRPr lang="en-US"/>
          </a:p>
        </p:txBody>
      </p:sp>
      <p:pic>
        <p:nvPicPr>
          <p:cNvPr id="5" name="icon" descr="preencoded.png"/>
          <p:cNvPicPr>
            <a:picLocks noChangeAspect="1"/>
          </p:cNvPicPr>
          <p:nvPr/>
        </p:nvPicPr>
        <p:blipFill>
          <a:blip r:embed="rId3"/>
          <a:stretch>
            <a:fillRect/>
          </a:stretch>
        </p:blipFill>
        <p:spPr>
          <a:xfrm>
            <a:off x="1154430" y="2068830"/>
            <a:ext cx="388620" cy="388620"/>
          </a:xfrm>
          <a:prstGeom prst="rect">
            <a:avLst/>
          </a:prstGeom>
        </p:spPr>
      </p:pic>
      <p:sp>
        <p:nvSpPr>
          <p:cNvPr id="6" name="Text 3"/>
          <p:cNvSpPr txBox="1"/>
          <p:nvPr/>
        </p:nvSpPr>
        <p:spPr>
          <a:xfrm>
            <a:off x="2011680" y="1828800"/>
            <a:ext cx="3749040" cy="502920"/>
          </a:xfrm>
          <a:prstGeom prst="rect">
            <a:avLst/>
          </a:prstGeom>
          <a:noFill/>
          <a:ln/>
        </p:spPr>
        <p:txBody>
          <a:bodyPr wrap="square" lIns="0" tIns="0" rIns="0" bIns="0" rtlCol="0" anchor="t"/>
          <a:lstStyle/>
          <a:p>
            <a:pPr marL="0" indent="0">
              <a:buNone/>
            </a:pPr>
            <a:r>
              <a:rPr lang="en-US" sz="2000" b="1" dirty="0">
                <a:solidFill>
                  <a:srgbClr val="022851"/>
                </a:solidFill>
              </a:rPr>
              <a:t>Colab forgets</a:t>
            </a:r>
            <a:endParaRPr lang="en-US" sz="2000" dirty="0"/>
          </a:p>
        </p:txBody>
      </p:sp>
      <p:sp>
        <p:nvSpPr>
          <p:cNvPr id="7" name="Text 4"/>
          <p:cNvSpPr txBox="1"/>
          <p:nvPr/>
        </p:nvSpPr>
        <p:spPr>
          <a:xfrm>
            <a:off x="2011680" y="2377440"/>
            <a:ext cx="3749040" cy="1051560"/>
          </a:xfrm>
          <a:prstGeom prst="rect">
            <a:avLst/>
          </a:prstGeom>
          <a:noFill/>
          <a:ln/>
        </p:spPr>
        <p:txBody>
          <a:bodyPr wrap="square" lIns="0" tIns="0" rIns="0" bIns="0" rtlCol="0" anchor="t"/>
          <a:lstStyle/>
          <a:p>
            <a:pPr marL="0" indent="0">
              <a:buNone/>
            </a:pPr>
            <a:r>
              <a:rPr lang="en-US" sz="1500" dirty="0">
                <a:solidFill>
                  <a:schemeClr val="tx1"/>
                </a:solidFill>
              </a:rPr>
              <a:t>Packages, uploaded files and objects vanish when the runtime disconnects. Re-run from the top.</a:t>
            </a:r>
            <a:endParaRPr lang="en-US" sz="1500" dirty="0"/>
          </a:p>
        </p:txBody>
      </p:sp>
      <p:sp>
        <p:nvSpPr>
          <p:cNvPr id="8" name="card"/>
          <p:cNvSpPr/>
          <p:nvPr/>
        </p:nvSpPr>
        <p:spPr>
          <a:xfrm>
            <a:off x="6172200" y="1554480"/>
            <a:ext cx="5349240" cy="201168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9" name="icon circle"/>
          <p:cNvSpPr/>
          <p:nvPr/>
        </p:nvSpPr>
        <p:spPr>
          <a:xfrm>
            <a:off x="6492240" y="1874520"/>
            <a:ext cx="777240" cy="777240"/>
          </a:xfrm>
          <a:prstGeom prst="ellipse">
            <a:avLst/>
          </a:prstGeom>
          <a:solidFill>
            <a:srgbClr val="FFBF00"/>
          </a:solidFill>
          <a:ln w="12700">
            <a:solidFill>
              <a:srgbClr val="FFBF00"/>
            </a:solidFill>
            <a:prstDash val="solid"/>
          </a:ln>
        </p:spPr>
        <p:txBody>
          <a:bodyPr/>
          <a:lstStyle/>
          <a:p>
            <a:endParaRPr lang="en-US"/>
          </a:p>
        </p:txBody>
      </p:sp>
      <p:pic>
        <p:nvPicPr>
          <p:cNvPr id="10" name="icon" descr="preencoded.png"/>
          <p:cNvPicPr>
            <a:picLocks noChangeAspect="1"/>
          </p:cNvPicPr>
          <p:nvPr/>
        </p:nvPicPr>
        <p:blipFill>
          <a:blip r:embed="rId4"/>
          <a:stretch>
            <a:fillRect/>
          </a:stretch>
        </p:blipFill>
        <p:spPr>
          <a:xfrm>
            <a:off x="6686550" y="2068830"/>
            <a:ext cx="388620" cy="388620"/>
          </a:xfrm>
          <a:prstGeom prst="rect">
            <a:avLst/>
          </a:prstGeom>
        </p:spPr>
      </p:pic>
      <p:sp>
        <p:nvSpPr>
          <p:cNvPr id="11" name="Text 7"/>
          <p:cNvSpPr txBox="1"/>
          <p:nvPr/>
        </p:nvSpPr>
        <p:spPr>
          <a:xfrm>
            <a:off x="7543800" y="1828800"/>
            <a:ext cx="3749040" cy="502920"/>
          </a:xfrm>
          <a:prstGeom prst="rect">
            <a:avLst/>
          </a:prstGeom>
          <a:noFill/>
          <a:ln/>
        </p:spPr>
        <p:txBody>
          <a:bodyPr wrap="square" lIns="0" tIns="0" rIns="0" bIns="0" rtlCol="0" anchor="t"/>
          <a:lstStyle/>
          <a:p>
            <a:pPr marL="0" indent="0">
              <a:buNone/>
            </a:pPr>
            <a:r>
              <a:rPr lang="en-US" sz="2000" b="1" dirty="0">
                <a:solidFill>
                  <a:srgbClr val="022851"/>
                </a:solidFill>
              </a:rPr>
              <a:t>You live in /content</a:t>
            </a:r>
            <a:endParaRPr lang="en-US" sz="2000" dirty="0"/>
          </a:p>
        </p:txBody>
      </p:sp>
      <p:sp>
        <p:nvSpPr>
          <p:cNvPr id="12" name="Text 8"/>
          <p:cNvSpPr txBox="1"/>
          <p:nvPr/>
        </p:nvSpPr>
        <p:spPr>
          <a:xfrm>
            <a:off x="7543800" y="2377440"/>
            <a:ext cx="3749040" cy="1051560"/>
          </a:xfrm>
          <a:prstGeom prst="rect">
            <a:avLst/>
          </a:prstGeom>
          <a:noFill/>
          <a:ln/>
        </p:spPr>
        <p:txBody>
          <a:bodyPr wrap="square" lIns="0" tIns="0" rIns="0" bIns="0" rtlCol="0" anchor="t"/>
          <a:lstStyle/>
          <a:p>
            <a:pPr marL="0" indent="0">
              <a:buNone/>
            </a:pPr>
            <a:r>
              <a:rPr lang="en-US" sz="1500" dirty="0">
                <a:solidFill>
                  <a:schemeClr val="tx1"/>
                </a:solidFill>
              </a:rPr>
              <a:t>Paths from someone else's laptop (setwd("C:/Users/...")) will always fail. Use relative paths.</a:t>
            </a:r>
            <a:endParaRPr lang="en-US" sz="1500" dirty="0"/>
          </a:p>
        </p:txBody>
      </p:sp>
      <p:sp>
        <p:nvSpPr>
          <p:cNvPr id="13" name="card"/>
          <p:cNvSpPr/>
          <p:nvPr/>
        </p:nvSpPr>
        <p:spPr>
          <a:xfrm>
            <a:off x="640080" y="3794760"/>
            <a:ext cx="5349240" cy="201168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14" name="icon circle"/>
          <p:cNvSpPr/>
          <p:nvPr/>
        </p:nvSpPr>
        <p:spPr>
          <a:xfrm>
            <a:off x="960120" y="4114800"/>
            <a:ext cx="777240" cy="777240"/>
          </a:xfrm>
          <a:prstGeom prst="ellipse">
            <a:avLst/>
          </a:prstGeom>
          <a:solidFill>
            <a:srgbClr val="FFBF00"/>
          </a:solidFill>
          <a:ln w="12700">
            <a:solidFill>
              <a:srgbClr val="FFBF00"/>
            </a:solidFill>
            <a:prstDash val="solid"/>
          </a:ln>
        </p:spPr>
        <p:txBody>
          <a:bodyPr/>
          <a:lstStyle/>
          <a:p>
            <a:endParaRPr lang="en-US"/>
          </a:p>
        </p:txBody>
      </p:sp>
      <p:pic>
        <p:nvPicPr>
          <p:cNvPr id="15" name="icon" descr="preencoded.png"/>
          <p:cNvPicPr>
            <a:picLocks noChangeAspect="1"/>
          </p:cNvPicPr>
          <p:nvPr/>
        </p:nvPicPr>
        <p:blipFill>
          <a:blip r:embed="rId5"/>
          <a:stretch>
            <a:fillRect/>
          </a:stretch>
        </p:blipFill>
        <p:spPr>
          <a:xfrm>
            <a:off x="1154430" y="4309110"/>
            <a:ext cx="388620" cy="388620"/>
          </a:xfrm>
          <a:prstGeom prst="rect">
            <a:avLst/>
          </a:prstGeom>
        </p:spPr>
      </p:pic>
      <p:sp>
        <p:nvSpPr>
          <p:cNvPr id="16" name="Text 11"/>
          <p:cNvSpPr txBox="1"/>
          <p:nvPr/>
        </p:nvSpPr>
        <p:spPr>
          <a:xfrm>
            <a:off x="2011680" y="4069080"/>
            <a:ext cx="3749040" cy="502920"/>
          </a:xfrm>
          <a:prstGeom prst="rect">
            <a:avLst/>
          </a:prstGeom>
          <a:noFill/>
          <a:ln/>
        </p:spPr>
        <p:txBody>
          <a:bodyPr wrap="square" lIns="0" tIns="0" rIns="0" bIns="0" rtlCol="0" anchor="t"/>
          <a:lstStyle/>
          <a:p>
            <a:pPr marL="0" indent="0">
              <a:buNone/>
            </a:pPr>
            <a:r>
              <a:rPr lang="en-US" sz="2000" b="1" dirty="0">
                <a:solidFill>
                  <a:srgbClr val="022851"/>
                </a:solidFill>
              </a:rPr>
              <a:t>beep() is silent</a:t>
            </a:r>
            <a:endParaRPr lang="en-US" sz="2000" dirty="0"/>
          </a:p>
        </p:txBody>
      </p:sp>
      <p:sp>
        <p:nvSpPr>
          <p:cNvPr id="17" name="Text 12"/>
          <p:cNvSpPr txBox="1"/>
          <p:nvPr/>
        </p:nvSpPr>
        <p:spPr>
          <a:xfrm>
            <a:off x="2011680" y="4617720"/>
            <a:ext cx="3749040" cy="1051560"/>
          </a:xfrm>
          <a:prstGeom prst="rect">
            <a:avLst/>
          </a:prstGeom>
          <a:noFill/>
          <a:ln/>
        </p:spPr>
        <p:txBody>
          <a:bodyPr wrap="square" lIns="0" tIns="0" rIns="0" bIns="0" rtlCol="0" anchor="t"/>
          <a:lstStyle/>
          <a:p>
            <a:pPr marL="0" indent="0">
              <a:buNone/>
            </a:pPr>
            <a:r>
              <a:rPr lang="en-US" sz="1500" dirty="0">
                <a:solidFill>
                  <a:schemeClr val="tx1"/>
                </a:solidFill>
              </a:rPr>
              <a:t>beep() runs on Google's machine. The assignment includes a helper that plays sound in your browser.</a:t>
            </a:r>
            <a:endParaRPr lang="en-US" sz="1500" dirty="0"/>
          </a:p>
        </p:txBody>
      </p:sp>
      <p:sp>
        <p:nvSpPr>
          <p:cNvPr id="18" name="card"/>
          <p:cNvSpPr/>
          <p:nvPr/>
        </p:nvSpPr>
        <p:spPr>
          <a:xfrm>
            <a:off x="6172200" y="3794760"/>
            <a:ext cx="5349240" cy="2011680"/>
          </a:xfrm>
          <a:prstGeom prst="roundRect">
            <a:avLst>
              <a:gd name="adj" fmla="val 5455"/>
            </a:avLst>
          </a:prstGeom>
          <a:solidFill>
            <a:srgbClr val="E6EAEE"/>
          </a:solidFill>
          <a:ln w="12700">
            <a:solidFill>
              <a:srgbClr val="E6EAEE"/>
            </a:solidFill>
            <a:prstDash val="solid"/>
          </a:ln>
        </p:spPr>
        <p:txBody>
          <a:bodyPr/>
          <a:lstStyle/>
          <a:p>
            <a:endParaRPr lang="en-US"/>
          </a:p>
        </p:txBody>
      </p:sp>
      <p:sp>
        <p:nvSpPr>
          <p:cNvPr id="19" name="icon circle"/>
          <p:cNvSpPr/>
          <p:nvPr/>
        </p:nvSpPr>
        <p:spPr>
          <a:xfrm>
            <a:off x="6492240" y="4114800"/>
            <a:ext cx="777240" cy="777240"/>
          </a:xfrm>
          <a:prstGeom prst="ellipse">
            <a:avLst/>
          </a:prstGeom>
          <a:solidFill>
            <a:srgbClr val="FFBF00"/>
          </a:solidFill>
          <a:ln w="12700">
            <a:solidFill>
              <a:srgbClr val="FFBF00"/>
            </a:solidFill>
            <a:prstDash val="solid"/>
          </a:ln>
        </p:spPr>
        <p:txBody>
          <a:bodyPr/>
          <a:lstStyle/>
          <a:p>
            <a:endParaRPr lang="en-US"/>
          </a:p>
        </p:txBody>
      </p:sp>
      <p:pic>
        <p:nvPicPr>
          <p:cNvPr id="20" name="icon" descr="preencoded.png"/>
          <p:cNvPicPr>
            <a:picLocks noChangeAspect="1"/>
          </p:cNvPicPr>
          <p:nvPr/>
        </p:nvPicPr>
        <p:blipFill>
          <a:blip r:embed="rId6"/>
          <a:stretch>
            <a:fillRect/>
          </a:stretch>
        </p:blipFill>
        <p:spPr>
          <a:xfrm>
            <a:off x="6686550" y="4309110"/>
            <a:ext cx="388620" cy="388620"/>
          </a:xfrm>
          <a:prstGeom prst="rect">
            <a:avLst/>
          </a:prstGeom>
        </p:spPr>
      </p:pic>
      <p:sp>
        <p:nvSpPr>
          <p:cNvPr id="21" name="Text 15"/>
          <p:cNvSpPr txBox="1"/>
          <p:nvPr/>
        </p:nvSpPr>
        <p:spPr>
          <a:xfrm>
            <a:off x="7543800" y="4069080"/>
            <a:ext cx="3749040" cy="502920"/>
          </a:xfrm>
          <a:prstGeom prst="rect">
            <a:avLst/>
          </a:prstGeom>
          <a:noFill/>
          <a:ln/>
        </p:spPr>
        <p:txBody>
          <a:bodyPr wrap="square" lIns="0" tIns="0" rIns="0" bIns="0" rtlCol="0" anchor="t"/>
          <a:lstStyle/>
          <a:p>
            <a:pPr marL="0" indent="0">
              <a:buNone/>
            </a:pPr>
            <a:r>
              <a:rPr lang="en-US" sz="2000" b="1" dirty="0">
                <a:solidFill>
                  <a:srgbClr val="022851"/>
                </a:solidFill>
              </a:rPr>
              <a:t>Never save to main</a:t>
            </a:r>
            <a:endParaRPr lang="en-US" sz="2000" dirty="0"/>
          </a:p>
        </p:txBody>
      </p:sp>
      <p:sp>
        <p:nvSpPr>
          <p:cNvPr id="22" name="Text 16"/>
          <p:cNvSpPr txBox="1"/>
          <p:nvPr/>
        </p:nvSpPr>
        <p:spPr>
          <a:xfrm>
            <a:off x="7543800" y="4617720"/>
            <a:ext cx="3749040" cy="1051560"/>
          </a:xfrm>
          <a:prstGeom prst="rect">
            <a:avLst/>
          </a:prstGeom>
          <a:noFill/>
          <a:ln/>
        </p:spPr>
        <p:txBody>
          <a:bodyPr wrap="square" lIns="0" tIns="0" rIns="0" bIns="0" rtlCol="0" anchor="t"/>
          <a:lstStyle/>
          <a:p>
            <a:pPr marL="0" indent="0">
              <a:buNone/>
            </a:pPr>
            <a:r>
              <a:rPr lang="en-US" sz="1500" dirty="0">
                <a:solidFill>
                  <a:schemeClr val="tx1"/>
                </a:solidFill>
              </a:rPr>
              <a:t>Save a copy in GitHub to your own branch. Main belongs to the instructors.</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22960"/>
          </a:xfrm>
          <a:prstGeom prst="rect">
            <a:avLst/>
          </a:prstGeom>
          <a:noFill/>
          <a:ln/>
        </p:spPr>
        <p:txBody>
          <a:bodyPr wrap="square" lIns="0" tIns="0" rIns="0" bIns="0" rtlCol="0" anchor="ctr"/>
          <a:lstStyle/>
          <a:p>
            <a:pPr marL="0" indent="0" algn="l">
              <a:buNone/>
            </a:pPr>
            <a:r>
              <a:rPr lang="en-US" sz="3400" b="1" dirty="0">
                <a:solidFill>
                  <a:srgbClr val="022851"/>
                </a:solidFill>
              </a:rPr>
              <a:t>Live demo: R Quest</a:t>
            </a:r>
            <a:endParaRPr lang="en-US" sz="3400" dirty="0"/>
          </a:p>
        </p:txBody>
      </p:sp>
      <p:sp>
        <p:nvSpPr>
          <p:cNvPr id="3" name="Text 1"/>
          <p:cNvSpPr txBox="1"/>
          <p:nvPr/>
        </p:nvSpPr>
        <p:spPr>
          <a:xfrm>
            <a:off x="640080" y="1371600"/>
            <a:ext cx="10881360" cy="685800"/>
          </a:xfrm>
          <a:prstGeom prst="rect">
            <a:avLst/>
          </a:prstGeom>
          <a:noFill/>
          <a:ln/>
        </p:spPr>
        <p:txBody>
          <a:bodyPr wrap="square" lIns="0" tIns="0" rIns="0" bIns="0" rtlCol="0" anchor="t"/>
          <a:lstStyle/>
          <a:p>
            <a:pPr marL="0" indent="0">
              <a:buNone/>
            </a:pPr>
            <a:r>
              <a:rPr lang="en-US" sz="1700" dirty="0">
                <a:solidFill>
                  <a:srgbClr val="5B6770"/>
                </a:solidFill>
              </a:rPr>
              <a:t>Introduction to R.ipynb · You're a new epidemiologist in August 2020 with five months of state COVID-19 reports to explain by Friday.</a:t>
            </a:r>
            <a:endParaRPr lang="en-US" sz="1700" dirty="0"/>
          </a:p>
        </p:txBody>
      </p:sp>
      <p:sp>
        <p:nvSpPr>
          <p:cNvPr id="4" name="level"/>
          <p:cNvSpPr/>
          <p:nvPr/>
        </p:nvSpPr>
        <p:spPr>
          <a:xfrm>
            <a:off x="640080" y="2331720"/>
            <a:ext cx="5349240" cy="731520"/>
          </a:xfrm>
          <a:prstGeom prst="roundRect">
            <a:avLst>
              <a:gd name="adj" fmla="val 12500"/>
            </a:avLst>
          </a:prstGeom>
          <a:solidFill>
            <a:srgbClr val="E6EAEE"/>
          </a:solidFill>
          <a:ln w="12700">
            <a:solidFill>
              <a:srgbClr val="E6EAEE"/>
            </a:solidFill>
            <a:prstDash val="solid"/>
          </a:ln>
        </p:spPr>
        <p:txBody>
          <a:bodyPr/>
          <a:lstStyle/>
          <a:p>
            <a:endParaRPr lang="en-US"/>
          </a:p>
        </p:txBody>
      </p:sp>
      <p:sp>
        <p:nvSpPr>
          <p:cNvPr id="5" name="level number"/>
          <p:cNvSpPr/>
          <p:nvPr/>
        </p:nvSpPr>
        <p:spPr>
          <a:xfrm>
            <a:off x="777240" y="2423160"/>
            <a:ext cx="548640" cy="548640"/>
          </a:xfrm>
          <a:prstGeom prst="ellipse">
            <a:avLst/>
          </a:prstGeom>
          <a:solidFill>
            <a:srgbClr val="022851"/>
          </a:solidFill>
          <a:ln w="12700">
            <a:solidFill>
              <a:srgbClr val="022851"/>
            </a:solidFill>
            <a:prstDash val="solid"/>
          </a:ln>
        </p:spPr>
        <p:txBody>
          <a:bodyPr/>
          <a:lstStyle/>
          <a:p>
            <a:endParaRPr lang="en-US"/>
          </a:p>
        </p:txBody>
      </p:sp>
      <p:sp>
        <p:nvSpPr>
          <p:cNvPr id="6" name="Text 4"/>
          <p:cNvSpPr txBox="1"/>
          <p:nvPr/>
        </p:nvSpPr>
        <p:spPr>
          <a:xfrm>
            <a:off x="777240" y="24231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0</a:t>
            </a:r>
            <a:endParaRPr lang="en-US" sz="1600" dirty="0"/>
          </a:p>
        </p:txBody>
      </p:sp>
      <p:sp>
        <p:nvSpPr>
          <p:cNvPr id="7" name="Text 5"/>
          <p:cNvSpPr txBox="1"/>
          <p:nvPr/>
        </p:nvSpPr>
        <p:spPr>
          <a:xfrm>
            <a:off x="1508760" y="2331720"/>
            <a:ext cx="4343400" cy="731520"/>
          </a:xfrm>
          <a:prstGeom prst="rect">
            <a:avLst/>
          </a:prstGeom>
          <a:noFill/>
          <a:ln/>
        </p:spPr>
        <p:txBody>
          <a:bodyPr wrap="square" lIns="0" tIns="0" rIns="0" bIns="0" rtlCol="0" anchor="ctr"/>
          <a:lstStyle/>
          <a:p>
            <a:pPr marL="0" indent="0">
              <a:buNone/>
            </a:pPr>
            <a:r>
              <a:rPr lang="en-US" sz="1600" dirty="0">
                <a:solidFill>
                  <a:srgbClr val="1C2733"/>
                </a:solidFill>
              </a:rPr>
              <a:t>Level 0 · Set up Colab</a:t>
            </a:r>
            <a:endParaRPr lang="en-US" sz="1600" dirty="0"/>
          </a:p>
        </p:txBody>
      </p:sp>
      <p:sp>
        <p:nvSpPr>
          <p:cNvPr id="8" name="level"/>
          <p:cNvSpPr/>
          <p:nvPr/>
        </p:nvSpPr>
        <p:spPr>
          <a:xfrm>
            <a:off x="640080" y="3246120"/>
            <a:ext cx="5349240" cy="731520"/>
          </a:xfrm>
          <a:prstGeom prst="roundRect">
            <a:avLst>
              <a:gd name="adj" fmla="val 12500"/>
            </a:avLst>
          </a:prstGeom>
          <a:solidFill>
            <a:srgbClr val="E6EAEE"/>
          </a:solidFill>
          <a:ln w="12700">
            <a:solidFill>
              <a:srgbClr val="E6EAEE"/>
            </a:solidFill>
            <a:prstDash val="solid"/>
          </a:ln>
        </p:spPr>
        <p:txBody>
          <a:bodyPr/>
          <a:lstStyle/>
          <a:p>
            <a:endParaRPr lang="en-US"/>
          </a:p>
        </p:txBody>
      </p:sp>
      <p:sp>
        <p:nvSpPr>
          <p:cNvPr id="9" name="level number"/>
          <p:cNvSpPr/>
          <p:nvPr/>
        </p:nvSpPr>
        <p:spPr>
          <a:xfrm>
            <a:off x="777240" y="3337560"/>
            <a:ext cx="548640" cy="548640"/>
          </a:xfrm>
          <a:prstGeom prst="ellipse">
            <a:avLst/>
          </a:prstGeom>
          <a:solidFill>
            <a:srgbClr val="022851"/>
          </a:solidFill>
          <a:ln w="12700">
            <a:solidFill>
              <a:srgbClr val="022851"/>
            </a:solidFill>
            <a:prstDash val="solid"/>
          </a:ln>
        </p:spPr>
        <p:txBody>
          <a:bodyPr/>
          <a:lstStyle/>
          <a:p>
            <a:endParaRPr lang="en-US"/>
          </a:p>
        </p:txBody>
      </p:sp>
      <p:sp>
        <p:nvSpPr>
          <p:cNvPr id="10" name="Text 8"/>
          <p:cNvSpPr txBox="1"/>
          <p:nvPr/>
        </p:nvSpPr>
        <p:spPr>
          <a:xfrm>
            <a:off x="777240" y="33375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11" name="Text 9"/>
          <p:cNvSpPr txBox="1"/>
          <p:nvPr/>
        </p:nvSpPr>
        <p:spPr>
          <a:xfrm>
            <a:off x="1508760" y="3246120"/>
            <a:ext cx="4343400" cy="731520"/>
          </a:xfrm>
          <a:prstGeom prst="rect">
            <a:avLst/>
          </a:prstGeom>
          <a:noFill/>
          <a:ln/>
        </p:spPr>
        <p:txBody>
          <a:bodyPr wrap="square" lIns="0" tIns="0" rIns="0" bIns="0" rtlCol="0" anchor="ctr"/>
          <a:lstStyle/>
          <a:p>
            <a:pPr marL="0" indent="0">
              <a:buNone/>
            </a:pPr>
            <a:r>
              <a:rPr lang="en-US" sz="1600" dirty="0">
                <a:solidFill>
                  <a:srgbClr val="1C2733"/>
                </a:solidFill>
              </a:rPr>
              <a:t>Level 1 · R as a calculator: objects, data types, vectors</a:t>
            </a:r>
            <a:endParaRPr lang="en-US" sz="1600" dirty="0"/>
          </a:p>
        </p:txBody>
      </p:sp>
      <p:sp>
        <p:nvSpPr>
          <p:cNvPr id="12" name="level"/>
          <p:cNvSpPr/>
          <p:nvPr/>
        </p:nvSpPr>
        <p:spPr>
          <a:xfrm>
            <a:off x="640080" y="4160520"/>
            <a:ext cx="5349240" cy="731520"/>
          </a:xfrm>
          <a:prstGeom prst="roundRect">
            <a:avLst>
              <a:gd name="adj" fmla="val 12500"/>
            </a:avLst>
          </a:prstGeom>
          <a:solidFill>
            <a:srgbClr val="E6EAEE"/>
          </a:solidFill>
          <a:ln w="12700">
            <a:solidFill>
              <a:srgbClr val="E6EAEE"/>
            </a:solidFill>
            <a:prstDash val="solid"/>
          </a:ln>
        </p:spPr>
        <p:txBody>
          <a:bodyPr/>
          <a:lstStyle/>
          <a:p>
            <a:endParaRPr lang="en-US"/>
          </a:p>
        </p:txBody>
      </p:sp>
      <p:sp>
        <p:nvSpPr>
          <p:cNvPr id="13" name="level number"/>
          <p:cNvSpPr/>
          <p:nvPr/>
        </p:nvSpPr>
        <p:spPr>
          <a:xfrm>
            <a:off x="777240" y="4251960"/>
            <a:ext cx="548640" cy="548640"/>
          </a:xfrm>
          <a:prstGeom prst="ellipse">
            <a:avLst/>
          </a:prstGeom>
          <a:solidFill>
            <a:srgbClr val="022851"/>
          </a:solidFill>
          <a:ln w="12700">
            <a:solidFill>
              <a:srgbClr val="022851"/>
            </a:solidFill>
            <a:prstDash val="solid"/>
          </a:ln>
        </p:spPr>
        <p:txBody>
          <a:bodyPr/>
          <a:lstStyle/>
          <a:p>
            <a:endParaRPr lang="en-US"/>
          </a:p>
        </p:txBody>
      </p:sp>
      <p:sp>
        <p:nvSpPr>
          <p:cNvPr id="14" name="Text 12"/>
          <p:cNvSpPr txBox="1"/>
          <p:nvPr/>
        </p:nvSpPr>
        <p:spPr>
          <a:xfrm>
            <a:off x="777240" y="42519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5" name="Text 13"/>
          <p:cNvSpPr txBox="1"/>
          <p:nvPr/>
        </p:nvSpPr>
        <p:spPr>
          <a:xfrm>
            <a:off x="1508760" y="4160520"/>
            <a:ext cx="4343400" cy="731520"/>
          </a:xfrm>
          <a:prstGeom prst="rect">
            <a:avLst/>
          </a:prstGeom>
          <a:noFill/>
          <a:ln/>
        </p:spPr>
        <p:txBody>
          <a:bodyPr wrap="square" lIns="0" tIns="0" rIns="0" bIns="0" rtlCol="0" anchor="ctr"/>
          <a:lstStyle/>
          <a:p>
            <a:pPr marL="0" indent="0">
              <a:buNone/>
            </a:pPr>
            <a:r>
              <a:rPr lang="en-US" sz="1600" dirty="0">
                <a:solidFill>
                  <a:srgbClr val="1C2733"/>
                </a:solidFill>
              </a:rPr>
              <a:t>Level 2 · Packages (and a talking cow)</a:t>
            </a:r>
            <a:endParaRPr lang="en-US" sz="1600" dirty="0"/>
          </a:p>
        </p:txBody>
      </p:sp>
      <p:sp>
        <p:nvSpPr>
          <p:cNvPr id="16" name="level"/>
          <p:cNvSpPr/>
          <p:nvPr/>
        </p:nvSpPr>
        <p:spPr>
          <a:xfrm>
            <a:off x="640080" y="5074920"/>
            <a:ext cx="5349240" cy="731520"/>
          </a:xfrm>
          <a:prstGeom prst="roundRect">
            <a:avLst>
              <a:gd name="adj" fmla="val 12500"/>
            </a:avLst>
          </a:prstGeom>
          <a:solidFill>
            <a:srgbClr val="E6EAEE"/>
          </a:solidFill>
          <a:ln w="12700">
            <a:solidFill>
              <a:srgbClr val="E6EAEE"/>
            </a:solidFill>
            <a:prstDash val="solid"/>
          </a:ln>
        </p:spPr>
        <p:txBody>
          <a:bodyPr/>
          <a:lstStyle/>
          <a:p>
            <a:endParaRPr lang="en-US"/>
          </a:p>
        </p:txBody>
      </p:sp>
      <p:sp>
        <p:nvSpPr>
          <p:cNvPr id="17" name="level number"/>
          <p:cNvSpPr/>
          <p:nvPr/>
        </p:nvSpPr>
        <p:spPr>
          <a:xfrm>
            <a:off x="777240" y="5166360"/>
            <a:ext cx="548640" cy="548640"/>
          </a:xfrm>
          <a:prstGeom prst="ellipse">
            <a:avLst/>
          </a:prstGeom>
          <a:solidFill>
            <a:srgbClr val="022851"/>
          </a:solidFill>
          <a:ln w="12700">
            <a:solidFill>
              <a:srgbClr val="022851"/>
            </a:solidFill>
            <a:prstDash val="solid"/>
          </a:ln>
        </p:spPr>
        <p:txBody>
          <a:bodyPr/>
          <a:lstStyle/>
          <a:p>
            <a:endParaRPr lang="en-US"/>
          </a:p>
        </p:txBody>
      </p:sp>
      <p:sp>
        <p:nvSpPr>
          <p:cNvPr id="18" name="Text 16"/>
          <p:cNvSpPr txBox="1"/>
          <p:nvPr/>
        </p:nvSpPr>
        <p:spPr>
          <a:xfrm>
            <a:off x="777240" y="51663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9" name="Text 17"/>
          <p:cNvSpPr txBox="1"/>
          <p:nvPr/>
        </p:nvSpPr>
        <p:spPr>
          <a:xfrm>
            <a:off x="1508760" y="5074920"/>
            <a:ext cx="4343400" cy="731520"/>
          </a:xfrm>
          <a:prstGeom prst="rect">
            <a:avLst/>
          </a:prstGeom>
          <a:noFill/>
          <a:ln/>
        </p:spPr>
        <p:txBody>
          <a:bodyPr wrap="square" lIns="0" tIns="0" rIns="0" bIns="0" rtlCol="0" anchor="ctr"/>
          <a:lstStyle/>
          <a:p>
            <a:pPr marL="0" indent="0">
              <a:buNone/>
            </a:pPr>
            <a:r>
              <a:rPr lang="en-US" sz="1600" dirty="0">
                <a:solidFill>
                  <a:srgbClr val="1C2733"/>
                </a:solidFill>
              </a:rPr>
              <a:t>Level 3 · Working directory and a tidy project</a:t>
            </a:r>
            <a:endParaRPr lang="en-US" sz="1600" dirty="0"/>
          </a:p>
        </p:txBody>
      </p:sp>
      <p:sp>
        <p:nvSpPr>
          <p:cNvPr id="20" name="level"/>
          <p:cNvSpPr/>
          <p:nvPr/>
        </p:nvSpPr>
        <p:spPr>
          <a:xfrm>
            <a:off x="6172200" y="2331720"/>
            <a:ext cx="5349240" cy="731520"/>
          </a:xfrm>
          <a:prstGeom prst="roundRect">
            <a:avLst>
              <a:gd name="adj" fmla="val 12500"/>
            </a:avLst>
          </a:prstGeom>
          <a:solidFill>
            <a:srgbClr val="E6EAEE"/>
          </a:solidFill>
          <a:ln w="12700">
            <a:solidFill>
              <a:srgbClr val="E6EAEE"/>
            </a:solidFill>
            <a:prstDash val="solid"/>
          </a:ln>
        </p:spPr>
        <p:txBody>
          <a:bodyPr/>
          <a:lstStyle/>
          <a:p>
            <a:endParaRPr lang="en-US"/>
          </a:p>
        </p:txBody>
      </p:sp>
      <p:sp>
        <p:nvSpPr>
          <p:cNvPr id="21" name="level number"/>
          <p:cNvSpPr/>
          <p:nvPr/>
        </p:nvSpPr>
        <p:spPr>
          <a:xfrm>
            <a:off x="6309360" y="2423160"/>
            <a:ext cx="548640" cy="548640"/>
          </a:xfrm>
          <a:prstGeom prst="ellipse">
            <a:avLst/>
          </a:prstGeom>
          <a:solidFill>
            <a:srgbClr val="022851"/>
          </a:solidFill>
          <a:ln w="12700">
            <a:solidFill>
              <a:srgbClr val="022851"/>
            </a:solidFill>
            <a:prstDash val="solid"/>
          </a:ln>
        </p:spPr>
        <p:txBody>
          <a:bodyPr/>
          <a:lstStyle/>
          <a:p>
            <a:endParaRPr lang="en-US"/>
          </a:p>
        </p:txBody>
      </p:sp>
      <p:sp>
        <p:nvSpPr>
          <p:cNvPr id="22" name="Text 20"/>
          <p:cNvSpPr txBox="1"/>
          <p:nvPr/>
        </p:nvSpPr>
        <p:spPr>
          <a:xfrm>
            <a:off x="6309360" y="24231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3" name="Text 21"/>
          <p:cNvSpPr txBox="1"/>
          <p:nvPr/>
        </p:nvSpPr>
        <p:spPr>
          <a:xfrm>
            <a:off x="7040880" y="2331720"/>
            <a:ext cx="4343400" cy="731520"/>
          </a:xfrm>
          <a:prstGeom prst="rect">
            <a:avLst/>
          </a:prstGeom>
          <a:noFill/>
          <a:ln/>
        </p:spPr>
        <p:txBody>
          <a:bodyPr wrap="square" lIns="0" tIns="0" rIns="0" bIns="0" rtlCol="0" anchor="ctr"/>
          <a:lstStyle/>
          <a:p>
            <a:pPr marL="0" indent="0">
              <a:buNone/>
            </a:pPr>
            <a:r>
              <a:rPr lang="en-US" sz="1600" dirty="0">
                <a:solidFill>
                  <a:srgbClr val="1C2733"/>
                </a:solidFill>
              </a:rPr>
              <a:t>Level 4 · Meet the data, plus a bug hunt</a:t>
            </a:r>
            <a:endParaRPr lang="en-US" sz="1600" dirty="0"/>
          </a:p>
        </p:txBody>
      </p:sp>
      <p:sp>
        <p:nvSpPr>
          <p:cNvPr id="24" name="level"/>
          <p:cNvSpPr/>
          <p:nvPr/>
        </p:nvSpPr>
        <p:spPr>
          <a:xfrm>
            <a:off x="6172200" y="3246120"/>
            <a:ext cx="5349240" cy="731520"/>
          </a:xfrm>
          <a:prstGeom prst="roundRect">
            <a:avLst>
              <a:gd name="adj" fmla="val 12500"/>
            </a:avLst>
          </a:prstGeom>
          <a:solidFill>
            <a:srgbClr val="E6EAEE"/>
          </a:solidFill>
          <a:ln w="12700">
            <a:solidFill>
              <a:srgbClr val="E6EAEE"/>
            </a:solidFill>
            <a:prstDash val="solid"/>
          </a:ln>
        </p:spPr>
        <p:txBody>
          <a:bodyPr/>
          <a:lstStyle/>
          <a:p>
            <a:endParaRPr lang="en-US"/>
          </a:p>
        </p:txBody>
      </p:sp>
      <p:sp>
        <p:nvSpPr>
          <p:cNvPr id="25" name="level number"/>
          <p:cNvSpPr/>
          <p:nvPr/>
        </p:nvSpPr>
        <p:spPr>
          <a:xfrm>
            <a:off x="6309360" y="3337560"/>
            <a:ext cx="548640" cy="548640"/>
          </a:xfrm>
          <a:prstGeom prst="ellipse">
            <a:avLst/>
          </a:prstGeom>
          <a:solidFill>
            <a:srgbClr val="022851"/>
          </a:solidFill>
          <a:ln w="12700">
            <a:solidFill>
              <a:srgbClr val="022851"/>
            </a:solidFill>
            <a:prstDash val="solid"/>
          </a:ln>
        </p:spPr>
        <p:txBody>
          <a:bodyPr/>
          <a:lstStyle/>
          <a:p>
            <a:endParaRPr lang="en-US"/>
          </a:p>
        </p:txBody>
      </p:sp>
      <p:sp>
        <p:nvSpPr>
          <p:cNvPr id="26" name="Text 24"/>
          <p:cNvSpPr txBox="1"/>
          <p:nvPr/>
        </p:nvSpPr>
        <p:spPr>
          <a:xfrm>
            <a:off x="6309360" y="33375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27" name="Text 25"/>
          <p:cNvSpPr txBox="1"/>
          <p:nvPr/>
        </p:nvSpPr>
        <p:spPr>
          <a:xfrm>
            <a:off x="7040880" y="3246120"/>
            <a:ext cx="4343400" cy="731520"/>
          </a:xfrm>
          <a:prstGeom prst="rect">
            <a:avLst/>
          </a:prstGeom>
          <a:noFill/>
          <a:ln/>
        </p:spPr>
        <p:txBody>
          <a:bodyPr wrap="square" lIns="0" tIns="0" rIns="0" bIns="0" rtlCol="0" anchor="ctr"/>
          <a:lstStyle/>
          <a:p>
            <a:pPr marL="0" indent="0">
              <a:buNone/>
            </a:pPr>
            <a:r>
              <a:rPr lang="en-US" sz="1600" dirty="0">
                <a:solidFill>
                  <a:srgbClr val="1C2733"/>
                </a:solidFill>
              </a:rPr>
              <a:t>Level 5 · Wrangle with dplyr</a:t>
            </a:r>
            <a:endParaRPr lang="en-US" sz="1600" dirty="0"/>
          </a:p>
        </p:txBody>
      </p:sp>
      <p:sp>
        <p:nvSpPr>
          <p:cNvPr id="28" name="level"/>
          <p:cNvSpPr/>
          <p:nvPr/>
        </p:nvSpPr>
        <p:spPr>
          <a:xfrm>
            <a:off x="6172200" y="4160520"/>
            <a:ext cx="5349240" cy="731520"/>
          </a:xfrm>
          <a:prstGeom prst="roundRect">
            <a:avLst>
              <a:gd name="adj" fmla="val 12500"/>
            </a:avLst>
          </a:prstGeom>
          <a:solidFill>
            <a:srgbClr val="E6EAEE"/>
          </a:solidFill>
          <a:ln w="12700">
            <a:solidFill>
              <a:srgbClr val="E6EAEE"/>
            </a:solidFill>
            <a:prstDash val="solid"/>
          </a:ln>
        </p:spPr>
        <p:txBody>
          <a:bodyPr/>
          <a:lstStyle/>
          <a:p>
            <a:endParaRPr lang="en-US"/>
          </a:p>
        </p:txBody>
      </p:sp>
      <p:sp>
        <p:nvSpPr>
          <p:cNvPr id="29" name="level number"/>
          <p:cNvSpPr/>
          <p:nvPr/>
        </p:nvSpPr>
        <p:spPr>
          <a:xfrm>
            <a:off x="6309360" y="4251960"/>
            <a:ext cx="548640" cy="548640"/>
          </a:xfrm>
          <a:prstGeom prst="ellipse">
            <a:avLst/>
          </a:prstGeom>
          <a:solidFill>
            <a:srgbClr val="022851"/>
          </a:solidFill>
          <a:ln w="12700">
            <a:solidFill>
              <a:srgbClr val="022851"/>
            </a:solidFill>
            <a:prstDash val="solid"/>
          </a:ln>
        </p:spPr>
        <p:txBody>
          <a:bodyPr/>
          <a:lstStyle/>
          <a:p>
            <a:endParaRPr lang="en-US"/>
          </a:p>
        </p:txBody>
      </p:sp>
      <p:sp>
        <p:nvSpPr>
          <p:cNvPr id="30" name="Text 28"/>
          <p:cNvSpPr txBox="1"/>
          <p:nvPr/>
        </p:nvSpPr>
        <p:spPr>
          <a:xfrm>
            <a:off x="6309360" y="42519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6</a:t>
            </a:r>
            <a:endParaRPr lang="en-US" sz="1600" dirty="0"/>
          </a:p>
        </p:txBody>
      </p:sp>
      <p:sp>
        <p:nvSpPr>
          <p:cNvPr id="31" name="Text 29"/>
          <p:cNvSpPr txBox="1"/>
          <p:nvPr/>
        </p:nvSpPr>
        <p:spPr>
          <a:xfrm>
            <a:off x="7040880" y="4160520"/>
            <a:ext cx="4343400" cy="731520"/>
          </a:xfrm>
          <a:prstGeom prst="rect">
            <a:avLst/>
          </a:prstGeom>
          <a:noFill/>
          <a:ln/>
        </p:spPr>
        <p:txBody>
          <a:bodyPr wrap="square" lIns="0" tIns="0" rIns="0" bIns="0" rtlCol="0" anchor="ctr"/>
          <a:lstStyle/>
          <a:p>
            <a:pPr marL="0" indent="0">
              <a:buNone/>
            </a:pPr>
            <a:r>
              <a:rPr lang="en-US" sz="1600" dirty="0">
                <a:solidFill>
                  <a:srgbClr val="1C2733"/>
                </a:solidFill>
              </a:rPr>
              <a:t>Level 6 · Build a ggplot layer by layer</a:t>
            </a:r>
            <a:endParaRPr lang="en-US" sz="1600" dirty="0"/>
          </a:p>
        </p:txBody>
      </p:sp>
      <p:sp>
        <p:nvSpPr>
          <p:cNvPr id="32" name="level"/>
          <p:cNvSpPr/>
          <p:nvPr/>
        </p:nvSpPr>
        <p:spPr>
          <a:xfrm>
            <a:off x="6172200" y="5074920"/>
            <a:ext cx="5349240" cy="731520"/>
          </a:xfrm>
          <a:prstGeom prst="roundRect">
            <a:avLst>
              <a:gd name="adj" fmla="val 12500"/>
            </a:avLst>
          </a:prstGeom>
          <a:solidFill>
            <a:srgbClr val="FFF2CC"/>
          </a:solidFill>
          <a:ln w="12700">
            <a:solidFill>
              <a:srgbClr val="FFF2CC"/>
            </a:solidFill>
            <a:prstDash val="solid"/>
          </a:ln>
        </p:spPr>
        <p:txBody>
          <a:bodyPr/>
          <a:lstStyle/>
          <a:p>
            <a:endParaRPr lang="en-US"/>
          </a:p>
        </p:txBody>
      </p:sp>
      <p:sp>
        <p:nvSpPr>
          <p:cNvPr id="33" name="level number"/>
          <p:cNvSpPr/>
          <p:nvPr/>
        </p:nvSpPr>
        <p:spPr>
          <a:xfrm>
            <a:off x="6309360" y="5166360"/>
            <a:ext cx="548640" cy="548640"/>
          </a:xfrm>
          <a:prstGeom prst="ellipse">
            <a:avLst/>
          </a:prstGeom>
          <a:solidFill>
            <a:srgbClr val="FFBF00"/>
          </a:solidFill>
          <a:ln w="12700">
            <a:solidFill>
              <a:srgbClr val="FFBF00"/>
            </a:solidFill>
            <a:prstDash val="solid"/>
          </a:ln>
        </p:spPr>
        <p:txBody>
          <a:bodyPr/>
          <a:lstStyle/>
          <a:p>
            <a:endParaRPr lang="en-US"/>
          </a:p>
        </p:txBody>
      </p:sp>
      <p:sp>
        <p:nvSpPr>
          <p:cNvPr id="34" name="Text 32"/>
          <p:cNvSpPr txBox="1"/>
          <p:nvPr/>
        </p:nvSpPr>
        <p:spPr>
          <a:xfrm>
            <a:off x="6309360" y="5166360"/>
            <a:ext cx="548640" cy="548640"/>
          </a:xfrm>
          <a:prstGeom prst="rect">
            <a:avLst/>
          </a:prstGeom>
          <a:noFill/>
          <a:ln/>
        </p:spPr>
        <p:txBody>
          <a:bodyPr wrap="square" lIns="0" tIns="0" rIns="0" bIns="0" rtlCol="0" anchor="ctr"/>
          <a:lstStyle/>
          <a:p>
            <a:pPr marL="0" indent="0" algn="ctr">
              <a:buNone/>
            </a:pPr>
            <a:r>
              <a:rPr lang="en-US" sz="1600" b="1" dirty="0">
                <a:solidFill>
                  <a:srgbClr val="022851"/>
                </a:solidFill>
              </a:rPr>
              <a:t>★</a:t>
            </a:r>
            <a:endParaRPr lang="en-US" sz="1600" dirty="0"/>
          </a:p>
        </p:txBody>
      </p:sp>
      <p:sp>
        <p:nvSpPr>
          <p:cNvPr id="35" name="Text 33"/>
          <p:cNvSpPr txBox="1"/>
          <p:nvPr/>
        </p:nvSpPr>
        <p:spPr>
          <a:xfrm>
            <a:off x="7040880" y="5074920"/>
            <a:ext cx="4343400" cy="731520"/>
          </a:xfrm>
          <a:prstGeom prst="rect">
            <a:avLst/>
          </a:prstGeom>
          <a:noFill/>
          <a:ln/>
        </p:spPr>
        <p:txBody>
          <a:bodyPr wrap="square" lIns="0" tIns="0" rIns="0" bIns="0" rtlCol="0" anchor="ctr"/>
          <a:lstStyle/>
          <a:p>
            <a:pPr marL="0" indent="0">
              <a:buNone/>
            </a:pPr>
            <a:r>
              <a:rPr lang="en-US" sz="1600" b="1" dirty="0">
                <a:solidFill>
                  <a:srgbClr val="022851"/>
                </a:solidFill>
              </a:rPr>
              <a:t>Boss level · California's epi curve</a:t>
            </a:r>
            <a:endParaRPr lang="en-US" sz="1600" dirty="0"/>
          </a:p>
        </p:txBody>
      </p:sp>
      <p:sp>
        <p:nvSpPr>
          <p:cNvPr id="36"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194560"/>
            <a:ext cx="7498080" cy="1371600"/>
          </a:xfrm>
          <a:prstGeom prst="rect">
            <a:avLst/>
          </a:prstGeom>
          <a:noFill/>
          <a:ln/>
        </p:spPr>
        <p:txBody>
          <a:bodyPr wrap="square" lIns="0" tIns="0" rIns="0" bIns="0" rtlCol="0" anchor="b"/>
          <a:lstStyle/>
          <a:p>
            <a:pPr marL="0" indent="0" algn="l">
              <a:buNone/>
            </a:pPr>
            <a:r>
              <a:rPr lang="en-US" sz="4000" b="1" dirty="0">
                <a:solidFill>
                  <a:srgbClr val="FFFFFF"/>
                </a:solidFill>
              </a:rPr>
              <a:t>Your mission: Will the Hummers Survive?</a:t>
            </a:r>
            <a:endParaRPr lang="en-US" sz="4000" dirty="0"/>
          </a:p>
        </p:txBody>
      </p:sp>
      <p:sp>
        <p:nvSpPr>
          <p:cNvPr id="3" name="Text 0"/>
          <p:cNvSpPr>
            <a:spLocks noGrp="1"/>
          </p:cNvSpPr>
          <p:nvPr>
            <p:ph type="body" idx="101" hasCustomPrompt="1"/>
          </p:nvPr>
        </p:nvSpPr>
        <p:spPr>
          <a:xfrm>
            <a:off x="640080" y="3749040"/>
            <a:ext cx="7498080" cy="1280160"/>
          </a:xfrm>
          <a:prstGeom prst="rect">
            <a:avLst/>
          </a:prstGeom>
          <a:noFill/>
          <a:ln/>
        </p:spPr>
        <p:txBody>
          <a:bodyPr wrap="square" lIns="0" tIns="0" rIns="0" bIns="0" rtlCol="0" anchor="t"/>
          <a:lstStyle/>
          <a:p>
            <a:pPr marL="0" indent="0">
              <a:buNone/>
            </a:pPr>
            <a:r>
              <a:rPr lang="en-US" sz="1800" dirty="0">
                <a:solidFill>
                  <a:srgbClr val="FFBF00"/>
                </a:solidFill>
              </a:rPr>
              <a:t>6,908 hummingbird rescues from three California rehab centers, 1991–2016</a:t>
            </a:r>
            <a:endParaRPr lang="en-US" sz="1800" dirty="0"/>
          </a:p>
          <a:p>
            <a:pPr marL="0" indent="0">
              <a:buNone/>
            </a:pPr>
            <a:r>
              <a:rPr lang="en-US" sz="1800" dirty="0">
                <a:solidFill>
                  <a:srgbClr val="FFFFFF"/>
                </a:solidFill>
              </a:rPr>
              <a:t>Five case files, a data-detective bonus, and a plot hall of fame</a:t>
            </a:r>
            <a:endParaRPr lang="en-US" sz="1800" dirty="0"/>
          </a:p>
        </p:txBody>
      </p:sp>
      <p:pic>
        <p:nvPicPr>
          <p:cNvPr id="4" name="hummingbird icon" descr="preencoded.png"/>
          <p:cNvPicPr>
            <a:picLocks noChangeAspect="1"/>
          </p:cNvPicPr>
          <p:nvPr/>
        </p:nvPicPr>
        <p:blipFill>
          <a:blip r:embed="rId3"/>
          <a:stretch>
            <a:fillRect/>
          </a:stretch>
        </p:blipFill>
        <p:spPr>
          <a:xfrm>
            <a:off x="8778240" y="1737360"/>
            <a:ext cx="2743200" cy="2743200"/>
          </a:xfrm>
          <a:prstGeom prst="rect">
            <a:avLst/>
          </a:prstGeom>
        </p:spPr>
      </p:pic>
      <p:sp>
        <p:nvSpPr>
          <p:cNvPr id="25" name="Slide Number Placeholder 0"/>
          <p:cNvSpPr>
            <a:spLocks noGrp="1"/>
          </p:cNvSpPr>
          <p:nvPr>
            <p:ph type="sldNum" sz="quarter" idx="4294967295"/>
          </p:nvPr>
        </p:nvSpPr>
        <p:spPr>
          <a:xfrm>
            <a:off x="1115568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FC0D3"/>
                </a:solidFill>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UC Davis Aggie">
  <a:themeElements>
    <a:clrScheme name="UC Davis Aggie">
      <a:dk1>
        <a:srgbClr val="1C2733"/>
      </a:dk1>
      <a:lt1>
        <a:srgbClr val="FFFFFF"/>
      </a:lt1>
      <a:dk2>
        <a:srgbClr val="022851"/>
      </a:dk2>
      <a:lt2>
        <a:srgbClr val="E6EAEE"/>
      </a:lt2>
      <a:accent1>
        <a:srgbClr val="022851"/>
      </a:accent1>
      <a:accent2>
        <a:srgbClr val="FFBF00"/>
      </a:accent2>
      <a:accent3>
        <a:srgbClr val="F18A00"/>
      </a:accent3>
      <a:accent4>
        <a:srgbClr val="335379"/>
      </a:accent4>
      <a:accent5>
        <a:srgbClr val="6E8BA8"/>
      </a:accent5>
      <a:accent6>
        <a:srgbClr val="C99700"/>
      </a:accent6>
      <a:hlink>
        <a:srgbClr val="0B5CAD"/>
      </a:hlink>
      <a:folHlink>
        <a:srgbClr val="335379"/>
      </a:folHlink>
    </a:clrScheme>
    <a:fontScheme name="UC Davis Aggie">
      <a:majorFont>
        <a:latin typeface="Proxima Nov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oxima Nov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1257</Words>
  <Application>Microsoft Office PowerPoint</Application>
  <PresentationFormat>Widescreen</PresentationFormat>
  <Paragraphs>199</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Courier New</vt:lpstr>
      <vt:lpstr>Proxima Nova</vt:lpstr>
      <vt:lpstr>UC Davis Aggie</vt:lpstr>
      <vt:lpstr>Introduction to R Programming and Collaborative Science</vt:lpstr>
      <vt:lpstr>Learning objectives</vt:lpstr>
      <vt:lpstr>Today's game plan</vt:lpstr>
      <vt:lpstr>Data is valuable</vt:lpstr>
      <vt:lpstr>Why data management?</vt:lpstr>
      <vt:lpstr>Five habits of good data management</vt:lpstr>
      <vt:lpstr>Anatomy of a working directory</vt:lpstr>
      <vt:lpstr>Naming files</vt:lpstr>
      <vt:lpstr>Naming objects in R</vt:lpstr>
      <vt:lpstr>Data management and backup</vt:lpstr>
      <vt:lpstr>Version control your data and code</vt:lpstr>
      <vt:lpstr>A reproducibility checklist</vt:lpstr>
      <vt:lpstr>Your coding environment: Google Colab</vt:lpstr>
      <vt:lpstr>Get R running in Colab in five steps</vt:lpstr>
      <vt:lpstr>Colab gotchas (save yourself an hour)</vt:lpstr>
      <vt:lpstr>Live demo: R Quest</vt:lpstr>
      <vt:lpstr>Your mission: Will the Hummers Survive?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 Programming and Collaborative Science</dc:title>
  <dc:subject>MPM 200 Week 1</dc:subject>
  <dc:creator>Pranav Pandit</dc:creator>
  <cp:lastModifiedBy>Pranav Sudhir Pandit</cp:lastModifiedBy>
  <cp:revision>2</cp:revision>
  <dcterms:created xsi:type="dcterms:W3CDTF">2026-10-13T02:45:12Z</dcterms:created>
  <dcterms:modified xsi:type="dcterms:W3CDTF">2026-10-14T05:19:50Z</dcterms:modified>
</cp:coreProperties>
</file>